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927AE-0285-8791-33A3-2003A80132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F8812E-5B34-E2FA-13A0-B0F11DD7D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35ADF8-17FC-4CC4-88CB-35225274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2633A0-0BF5-4D2B-A76D-8FBD1440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0AB3DC-F995-FF49-4993-E50BAAD7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061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04564-DC23-F8DC-31DB-BD334CAA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3E41AF-DA3D-8018-B84B-A8759DE93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BF864D-96E7-7CFF-B9E9-C3C4C3BA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E15F9-035C-4759-CD66-103544A92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9D3422-01CD-5AC9-9CC7-CFED75BD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277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AE326-E541-BB52-E4D4-B36E6E9C7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981ABB-9CAA-4C03-AB78-64A0ABA85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804BD1-87CF-5EFF-7F96-8360E72E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CE9920-D292-7E14-D9B2-0F92DB0F2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08568C-1834-816D-E5DE-066151692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3444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5F7249-C232-9743-57AB-8468B20E8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587593-E985-898C-A877-18F88943DE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F22C1B5-70C8-E9F5-4AE4-C98061E8AA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2CD894-FEF5-D1BC-D563-B81DEA51D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6D5B62-CCBF-19A2-216A-52F2BDACF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E4E66C-57AA-2FA9-740E-D7CBB0ECD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386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3ECCEA-BCF4-F646-FCFA-BDB6DAD11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25CFEA-D5C3-79AC-0031-DE60A452B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7246BEC-4019-B71B-B759-26E0A560C4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353DB4-AFEA-0E1A-EB4E-8D64174CF1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9E0C452-C0B6-BFBE-9B58-D37FBA8AA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C703B01-718F-1B54-3DF7-2D4E58E5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F07398F-26C8-CA59-65B5-BE9B39075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8709A45-3830-8E8A-4EB5-E50009559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54400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C53E35-A6E8-408F-C11B-A3179C85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5594C7B-DCC0-84E6-714E-69526B1D4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A26B54B-3652-CBAE-CDF8-C704504E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BDDFC5A-0068-8480-3A03-C0B36C8F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957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BC8C2D-0A66-C559-2F3C-B382BDBFF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8A81C57-8590-E25F-A57B-6FEB1441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C33A225-4047-CFA0-AA75-AB422DFD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589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71E3B-5FD5-69E9-D225-70438F05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7FC499-52F5-2276-1655-C41CFB485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32C13D7-E576-21D6-6197-D90FDF41CA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AE08B4-888F-1E98-32D0-0CB93E599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0135A1-9706-13E8-D9DA-189285343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F85880-0A42-6306-24BC-C89883ADC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54152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04035-A3CA-E682-2401-CF422321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DBDA931-9F43-82A3-42CA-1AA6E0A1939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9C03E5-CB1D-19D6-CFA9-2A3411CF4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4DD503-3213-D08A-4BBA-CC78D412E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49975F6-840A-9FBC-EDCC-0C37B063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C93E99-87E1-A720-6480-FED5FBF76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462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488B22-46E7-9FE0-2171-B80769BD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156FF0-ED67-F33A-08A1-51315D4BB2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C67A74-4CC2-F4AE-00E6-554FCDD95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43A327-D112-7A87-0BB5-7B8A6CC7A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52C73C-C4F5-5D87-9352-68B90CE91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8929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6F7999-A063-A6C4-E467-A8C47A5C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4ADF1D-7257-1ABF-B975-C18E0D0C84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1EC670-83AB-D899-5C7F-51F5FC0AF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90B971-882A-C512-3984-48E3790BF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800BA0-6FEB-86C3-A657-7E738DB62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948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AECE663-E106-1D76-BE42-18191920D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5114F8-3526-E5A1-628D-7668A1B34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5C120C1-0CCB-8A2B-8A46-9770DD772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1B606B-EE2E-4FE7-87D5-5360245FD53F}" type="datetimeFigureOut">
              <a:rPr lang="es-MX" smtClean="0"/>
              <a:t>09/10/2026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C768A9-E56D-BA36-0F3D-66A835311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CAF22B-BA14-DD39-D632-F38F6AB5C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00E6D-16D2-4891-BD58-37C2DFEF16D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8358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sebruno.com/" TargetMode="External"/><Relationship Id="rId3" Type="http://schemas.openxmlformats.org/officeDocument/2006/relationships/hyperlink" Target="https://elysiajs.com/" TargetMode="External"/><Relationship Id="rId7" Type="http://schemas.openxmlformats.org/officeDocument/2006/relationships/hyperlink" Target="https://github.com/porsager/postgres" TargetMode="External"/><Relationship Id="rId2" Type="http://schemas.openxmlformats.org/officeDocument/2006/relationships/hyperlink" Target="https://bun.sh/doc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sqlalchemy.org/" TargetMode="External"/><Relationship Id="rId5" Type="http://schemas.openxmlformats.org/officeDocument/2006/relationships/hyperlink" Target="https://www.postgresql.org/docs/" TargetMode="External"/><Relationship Id="rId4" Type="http://schemas.openxmlformats.org/officeDocument/2006/relationships/hyperlink" Target="https://fastapi.tiangol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155FD-4400-1949-7D48-7D368E2F35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895BDC-BDC9-61B3-273B-FC49B249F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544E0FF-85CF-8086-1C12-CAEF875C7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2">
            <a:extLst>
              <a:ext uri="{FF2B5EF4-FFF2-40B4-BE49-F238E27FC236}">
                <a16:creationId xmlns:a16="http://schemas.microsoft.com/office/drawing/2014/main" id="{11515F15-8C63-BCBA-C520-411E4EBDD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748" y="582066"/>
            <a:ext cx="10284542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MX" altLang="es-MX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TECNOLOGICO NACIONAL DE MEXICO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INSTITUTO TECNOLOGICO DE FRONTERA COMALAPA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CARRERA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INGENIERIA EN SISTEMAS COMPUTACIONALES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MATERIA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TALLER DE BASE DE DATOS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TRABAJO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BANCO</a:t>
            </a: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 EJERCICIOS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CATEDRATICO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ING.FRANCISCO JAVIER MINGO VELAZQUEZ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ESTUDIANTE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JESUS EDUARDO VILLARREAL LOPEZ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2412600</a:t>
            </a: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76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SEMESTRE 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endParaRPr kumimoji="0" lang="es-MX" altLang="es-MX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FRONTERA COMALAPA FECHA DE ENTREGA: </a:t>
            </a:r>
            <a:r>
              <a:rPr lang="es-MX" altLang="es-MX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09/10/</a:t>
            </a:r>
            <a:r>
              <a:rPr kumimoji="0" lang="es-MX" altLang="es-MX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2026</a:t>
            </a:r>
            <a:endParaRPr kumimoji="0" lang="es-MX" altLang="es-MX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1" descr="Logos Oficiales – Tecnológico Nacional de México">
            <a:extLst>
              <a:ext uri="{FF2B5EF4-FFF2-40B4-BE49-F238E27FC236}">
                <a16:creationId xmlns:a16="http://schemas.microsoft.com/office/drawing/2014/main" id="{3347955A-817B-95EA-3A08-8CEDC2B5B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1738" y="684442"/>
            <a:ext cx="2386188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 descr="Secretaría de Educación Pública | Secretaría de Educación ...">
            <a:extLst>
              <a:ext uri="{FF2B5EF4-FFF2-40B4-BE49-F238E27FC236}">
                <a16:creationId xmlns:a16="http://schemas.microsoft.com/office/drawing/2014/main" id="{2C71FF88-6510-5D57-2CF8-71AF26ED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3894" y="597455"/>
            <a:ext cx="2120900" cy="105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2" descr="TecNM | Tecnológico Nacional de México">
            <a:extLst>
              <a:ext uri="{FF2B5EF4-FFF2-40B4-BE49-F238E27FC236}">
                <a16:creationId xmlns:a16="http://schemas.microsoft.com/office/drawing/2014/main" id="{FC01F475-3377-5BBC-0FB9-EC1F7F16E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80449" y="597455"/>
            <a:ext cx="1980841" cy="1265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84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665C82-FF48-432F-324E-0DC793B8B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es-MX" sz="3800" b="1" dirty="0"/>
              <a:t>INTRODUCCIÓN</a:t>
            </a:r>
            <a:endParaRPr lang="es-MX" sz="3800" dirty="0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189A7D-B712-EDD3-7789-AC1FA0D8F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/>
          </a:bodyPr>
          <a:lstStyle/>
          <a:p>
            <a:pPr algn="just"/>
            <a:endParaRPr lang="es-MX" sz="1400" b="1" dirty="0"/>
          </a:p>
          <a:p>
            <a:pPr algn="just"/>
            <a:r>
              <a:rPr lang="es-MX" sz="1400" dirty="0"/>
              <a:t>En el desarrollo de software moderno, la construcción de arquitecturas </a:t>
            </a:r>
            <a:r>
              <a:rPr lang="es-MX" sz="1400" dirty="0" err="1"/>
              <a:t>backend</a:t>
            </a:r>
            <a:r>
              <a:rPr lang="es-MX" sz="1400" dirty="0"/>
              <a:t> eficientes, robustas y escalables es un pilar fundamental. El diseño de servicios REST (</a:t>
            </a:r>
            <a:r>
              <a:rPr lang="es-MX" sz="1400" dirty="0" err="1"/>
              <a:t>Representational</a:t>
            </a:r>
            <a:r>
              <a:rPr lang="es-MX" sz="1400" dirty="0"/>
              <a:t> State Transfer) permite la comunicación estandarizada entre aplicaciones cliente y servidores de datos.</a:t>
            </a:r>
          </a:p>
          <a:p>
            <a:pPr algn="just"/>
            <a:r>
              <a:rPr lang="es-MX" sz="1400" dirty="0"/>
              <a:t>Este banco de ejercicios reúne una serie de prácticas orientadas al diseño, desarrollo e integración de </a:t>
            </a:r>
            <a:r>
              <a:rPr lang="es-MX" sz="1400" dirty="0" err="1"/>
              <a:t>APIs</a:t>
            </a:r>
            <a:r>
              <a:rPr lang="es-MX" sz="1400" dirty="0"/>
              <a:t> </a:t>
            </a:r>
            <a:r>
              <a:rPr lang="es-MX" sz="1400" dirty="0" err="1"/>
              <a:t>RESTful</a:t>
            </a:r>
            <a:r>
              <a:rPr lang="es-MX" sz="1400" dirty="0"/>
              <a:t> conectadas a bases de datos relacionales PostgreSQL. A través de este compendio, se abordan dos enfoques tecnológicos de alto rendimiento: el entorno de ejecución </a:t>
            </a:r>
            <a:r>
              <a:rPr lang="es-MX" sz="1400" b="1" dirty="0"/>
              <a:t>Bun</a:t>
            </a:r>
            <a:r>
              <a:rPr lang="es-MX" sz="1400" dirty="0"/>
              <a:t> junto con el </a:t>
            </a:r>
            <a:r>
              <a:rPr lang="es-MX" sz="1400" dirty="0" err="1"/>
              <a:t>framework</a:t>
            </a:r>
            <a:r>
              <a:rPr lang="es-MX" sz="1400" dirty="0"/>
              <a:t> web </a:t>
            </a:r>
            <a:r>
              <a:rPr lang="es-MX" sz="1400" b="1" dirty="0"/>
              <a:t>Elysia.js</a:t>
            </a:r>
            <a:r>
              <a:rPr lang="es-MX" sz="1400" dirty="0"/>
              <a:t>, y el ecosistema </a:t>
            </a:r>
            <a:r>
              <a:rPr lang="es-MX" sz="1400" b="1" dirty="0"/>
              <a:t>Python</a:t>
            </a:r>
            <a:r>
              <a:rPr lang="es-MX" sz="1400" dirty="0"/>
              <a:t> utilizando el </a:t>
            </a:r>
            <a:r>
              <a:rPr lang="es-MX" sz="1400" dirty="0" err="1"/>
              <a:t>microframework</a:t>
            </a:r>
            <a:r>
              <a:rPr lang="es-MX" sz="1400" dirty="0"/>
              <a:t> </a:t>
            </a:r>
            <a:r>
              <a:rPr lang="es-MX" sz="1400" b="1" dirty="0" err="1"/>
              <a:t>FastAPI</a:t>
            </a:r>
            <a:r>
              <a:rPr lang="es-MX" sz="1400" dirty="0"/>
              <a:t> con el ORM </a:t>
            </a:r>
            <a:r>
              <a:rPr lang="es-MX" sz="1400" b="1" dirty="0" err="1"/>
              <a:t>SQLAlchemy</a:t>
            </a:r>
            <a:r>
              <a:rPr lang="es-MX" sz="1400" dirty="0"/>
              <a:t>. Cada ejercicio está estructurado para fortalecer el dominio de las operaciones CRUD (Create, Read, </a:t>
            </a:r>
            <a:r>
              <a:rPr lang="es-MX" sz="1400" dirty="0" err="1"/>
              <a:t>Update</a:t>
            </a:r>
            <a:r>
              <a:rPr lang="es-MX" sz="1400" dirty="0"/>
              <a:t>, Delete), la validación de esquemas de datos, el manejo seguro de variables de entorno y la verificación de </a:t>
            </a:r>
            <a:r>
              <a:rPr lang="es-MX" sz="1400" dirty="0" err="1"/>
              <a:t>endpoints</a:t>
            </a:r>
            <a:r>
              <a:rPr lang="es-MX" sz="1400" dirty="0"/>
              <a:t> mediante clientes HTTP como </a:t>
            </a:r>
            <a:r>
              <a:rPr lang="es-MX" sz="1400" b="1" dirty="0"/>
              <a:t>Bruno</a:t>
            </a:r>
            <a:r>
              <a:rPr lang="es-MX" sz="1400" dirty="0"/>
              <a:t>.</a:t>
            </a:r>
          </a:p>
          <a:p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369011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15D20E-1AB7-4E74-9236-2B72B63D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D61880-580D-8E13-B700-FA1C5010B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28" y="1336329"/>
            <a:ext cx="3892732" cy="4382588"/>
          </a:xfrm>
        </p:spPr>
        <p:txBody>
          <a:bodyPr anchor="ctr">
            <a:normAutofit/>
          </a:bodyPr>
          <a:lstStyle/>
          <a:p>
            <a:r>
              <a:rPr lang="es-MX" sz="4200" b="1" dirty="0"/>
              <a:t>JUSTIFICACIÓN</a:t>
            </a:r>
            <a:endParaRPr lang="es-MX" sz="4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6346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982976"/>
            <a:ext cx="6009366" cy="512063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7CBDD9-AD3D-0526-D726-B31255028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1336329"/>
            <a:ext cx="5260848" cy="4382588"/>
          </a:xfrm>
        </p:spPr>
        <p:txBody>
          <a:bodyPr anchor="ctr">
            <a:normAutofit/>
          </a:bodyPr>
          <a:lstStyle/>
          <a:p>
            <a:endParaRPr lang="es-MX" sz="1700" b="1" dirty="0"/>
          </a:p>
          <a:p>
            <a:pPr algn="just"/>
            <a:r>
              <a:rPr lang="es-MX" sz="1700" dirty="0"/>
              <a:t>El propósito de este banco de ejercicios es proveer una guía práctica, estructurada y progresiva que permita consolidar los conocimientos adquiridos en la materia de </a:t>
            </a:r>
            <a:r>
              <a:rPr lang="es-MX" sz="1700" b="1" dirty="0"/>
              <a:t>Taller de Bases de Datos</a:t>
            </a:r>
            <a:r>
              <a:rPr lang="es-MX" sz="1700" dirty="0"/>
              <a:t>.</a:t>
            </a:r>
          </a:p>
          <a:p>
            <a:pPr algn="just"/>
            <a:r>
              <a:rPr lang="es-MX" sz="1700" dirty="0"/>
              <a:t>El desarrollo de software exige no solo comprender la sintaxis de las consultas SQL, sino también saber integrarlas en capas de lógica de negocio mediante controladores HTTP y mapeadores objeto-relacional (ORM). La realización de estos ejercicios justifica la necesidad de dominar el ciclo completo de un </a:t>
            </a:r>
            <a:r>
              <a:rPr lang="es-MX" sz="1700" dirty="0" err="1"/>
              <a:t>backend</a:t>
            </a:r>
            <a:r>
              <a:rPr lang="es-MX" sz="1700" dirty="0"/>
              <a:t>: desde la configuración del entorno de ejecución y la gestión de modelos relacionales, hasta la exposición de </a:t>
            </a:r>
            <a:r>
              <a:rPr lang="es-MX" sz="1700" dirty="0" err="1"/>
              <a:t>endpoints</a:t>
            </a:r>
            <a:r>
              <a:rPr lang="es-MX" sz="1700" dirty="0"/>
              <a:t> seguros, la ejecución de migraciones de tablas y la auditoría de persistencia directa en PostgreSQL mediante herramientas como </a:t>
            </a:r>
            <a:r>
              <a:rPr lang="es-MX" sz="1700" dirty="0" err="1"/>
              <a:t>pgAdmin</a:t>
            </a:r>
            <a:r>
              <a:rPr lang="es-MX" sz="1700" dirty="0"/>
              <a:t>.</a:t>
            </a:r>
          </a:p>
          <a:p>
            <a:endParaRPr lang="es-MX" sz="1700" dirty="0"/>
          </a:p>
        </p:txBody>
      </p:sp>
    </p:spTree>
    <p:extLst>
      <p:ext uri="{BB962C8B-B14F-4D97-AF65-F5344CB8AC3E}">
        <p14:creationId xmlns:p14="http://schemas.microsoft.com/office/powerpoint/2010/main" val="294350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62EB33-74C3-FD8B-2978-D703949FC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EJERCICIO 1: API REST DE GESTIÓN DE PRODUCTOS EN FASTAPI Y SQLALCHEMY</a:t>
            </a:r>
          </a:p>
        </p:txBody>
      </p:sp>
    </p:spTree>
    <p:extLst>
      <p:ext uri="{BB962C8B-B14F-4D97-AF65-F5344CB8AC3E}">
        <p14:creationId xmlns:p14="http://schemas.microsoft.com/office/powerpoint/2010/main" val="883684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F4CB1B7-AF26-4C13-8E7D-0489A31E4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CFB366-3DEC-3210-2496-198B3D49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s-MX" sz="3700" b="1"/>
              <a:t>Descripción de la Práctica</a:t>
            </a:r>
            <a:endParaRPr lang="es-MX" sz="37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CFBB6B-0567-BC27-531F-9D1C94A3A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pPr algn="just"/>
            <a:r>
              <a:rPr lang="es-MX" sz="2000" dirty="0"/>
              <a:t>Desarrollar un servicio </a:t>
            </a:r>
            <a:r>
              <a:rPr lang="es-MX" sz="2000" dirty="0" err="1"/>
              <a:t>backend</a:t>
            </a:r>
            <a:r>
              <a:rPr lang="es-MX" sz="2000" dirty="0"/>
              <a:t> para la administración de un inventario de productos utilizando </a:t>
            </a:r>
            <a:r>
              <a:rPr lang="es-MX" sz="2000" b="1" dirty="0" err="1"/>
              <a:t>FastAPI</a:t>
            </a:r>
            <a:r>
              <a:rPr lang="es-MX" sz="2000" dirty="0"/>
              <a:t> en Python, </a:t>
            </a:r>
            <a:r>
              <a:rPr lang="es-MX" sz="2000" b="1" dirty="0" err="1"/>
              <a:t>SQLAlchemy</a:t>
            </a:r>
            <a:r>
              <a:rPr lang="es-MX" sz="2000" dirty="0"/>
              <a:t> como ORM, </a:t>
            </a:r>
            <a:r>
              <a:rPr lang="es-MX" sz="2000" b="1" dirty="0" err="1"/>
              <a:t>Pydantic</a:t>
            </a:r>
            <a:r>
              <a:rPr lang="es-MX" sz="2000" dirty="0"/>
              <a:t> para la validación de esquemas y </a:t>
            </a:r>
            <a:r>
              <a:rPr lang="es-MX" sz="2000" b="1" dirty="0"/>
              <a:t>PostgreSQL</a:t>
            </a:r>
            <a:r>
              <a:rPr lang="es-MX" sz="2000" dirty="0"/>
              <a:t> como motor de persistencia.</a:t>
            </a:r>
          </a:p>
          <a:p>
            <a:endParaRPr lang="es-MX" sz="20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C03219B-9A8C-1B67-EAF1-730DE21EAB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51" b="1"/>
          <a:stretch>
            <a:fillRect/>
          </a:stretch>
        </p:blipFill>
        <p:spPr>
          <a:xfrm>
            <a:off x="6946667" y="774285"/>
            <a:ext cx="4389120" cy="258117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44561C9-ACE9-34A7-E61D-2FB6F317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51" b="1"/>
          <a:stretch>
            <a:fillRect/>
          </a:stretch>
        </p:blipFill>
        <p:spPr>
          <a:xfrm>
            <a:off x="6946667" y="3575074"/>
            <a:ext cx="4389120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050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BF30EB-EE9E-185B-C52B-04EE824C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100" b="1"/>
              <a:t>Configuración del Entorno y Variables (.env)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912C41-1F63-AA31-62C0-63D686050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algn="just"/>
            <a:r>
              <a:rPr lang="es-MX" sz="2000" dirty="0"/>
              <a:t>Se define la variable DATABASE_URL para aislar las credenciales de la base de datos de manera segura y evitar exponer contraseñas en el código fuente.</a:t>
            </a:r>
          </a:p>
          <a:p>
            <a:endParaRPr lang="es-MX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AEB1FB-5D7E-10E6-F4DF-99CA07AF7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1"/>
            <a:ext cx="5150277" cy="289703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72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EA6BA4-A3DA-BC4D-8110-6C875AA74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100" b="1"/>
              <a:t>Conexión a la Base de Datos (database.py)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814B98-5320-5544-09EB-B9C022E1C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algn="just"/>
            <a:r>
              <a:rPr lang="es-MX" sz="2000" dirty="0"/>
              <a:t>Este archivo inicializa el motor de </a:t>
            </a:r>
            <a:r>
              <a:rPr lang="es-MX" sz="2000" dirty="0" err="1"/>
              <a:t>SQLAlchemy</a:t>
            </a:r>
            <a:r>
              <a:rPr lang="es-MX" sz="2000" dirty="0"/>
              <a:t> (</a:t>
            </a:r>
            <a:r>
              <a:rPr lang="es-MX" sz="2000" dirty="0" err="1"/>
              <a:t>create_engine</a:t>
            </a:r>
            <a:r>
              <a:rPr lang="es-MX" sz="2000" dirty="0"/>
              <a:t>), crea la fábrica de sesiones (</a:t>
            </a:r>
            <a:r>
              <a:rPr lang="es-MX" sz="2000" dirty="0" err="1"/>
              <a:t>sessionmaker</a:t>
            </a:r>
            <a:r>
              <a:rPr lang="es-MX" sz="2000" dirty="0"/>
              <a:t>) y define la clase base declarativa (</a:t>
            </a:r>
            <a:r>
              <a:rPr lang="es-MX" sz="2000" dirty="0" err="1"/>
              <a:t>declarative_base</a:t>
            </a:r>
            <a:r>
              <a:rPr lang="es-MX" sz="2000" dirty="0"/>
              <a:t>). La función </a:t>
            </a:r>
            <a:r>
              <a:rPr lang="es-MX" sz="2000" dirty="0" err="1"/>
              <a:t>get_db</a:t>
            </a:r>
            <a:r>
              <a:rPr lang="es-MX" sz="2000" dirty="0"/>
              <a:t>() gestiona el ciclo de vida de la sesión (abriendo y cerrando la conexión automáticamente en cada petición HTTP).</a:t>
            </a:r>
          </a:p>
          <a:p>
            <a:endParaRPr lang="es-MX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3014977-C317-AAFE-6A0F-33188ACB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12175"/>
            <a:ext cx="5150277" cy="285840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5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6FBFC3-5A68-5C1C-A20D-0B26B0609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b="1" dirty="0"/>
              <a:t>Modelo de la Base de Datos (models.py)</a:t>
            </a:r>
            <a:endParaRPr lang="es-MX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7C501E-33C9-54B3-FB39-DD64A92A0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algn="just"/>
            <a:r>
              <a:rPr lang="es-MX" sz="2000" dirty="0"/>
              <a:t>Mapea la tabla física productos dentro de PostgreSQL. Define los tipos de datos de cada columna (</a:t>
            </a:r>
            <a:r>
              <a:rPr lang="es-MX" sz="2000" dirty="0" err="1"/>
              <a:t>Integer</a:t>
            </a:r>
            <a:r>
              <a:rPr lang="es-MX" sz="2000" dirty="0"/>
              <a:t>, String, </a:t>
            </a:r>
            <a:r>
              <a:rPr lang="es-MX" sz="2000" dirty="0" err="1"/>
              <a:t>Float</a:t>
            </a:r>
            <a:r>
              <a:rPr lang="es-MX" sz="2000" dirty="0"/>
              <a:t>, </a:t>
            </a:r>
            <a:r>
              <a:rPr lang="es-MX" sz="2000" dirty="0" err="1"/>
              <a:t>Boolean</a:t>
            </a:r>
            <a:r>
              <a:rPr lang="es-MX" sz="2000" dirty="0"/>
              <a:t>) y marca id como la clave primaria </a:t>
            </a:r>
            <a:r>
              <a:rPr lang="es-MX" sz="2000" dirty="0" err="1"/>
              <a:t>autoincrementable</a:t>
            </a:r>
            <a:r>
              <a:rPr lang="es-MX" sz="2000" dirty="0"/>
              <a:t>.</a:t>
            </a:r>
          </a:p>
          <a:p>
            <a:endParaRPr lang="es-MX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1F43F8-BF73-FDF7-B96B-3B09B037C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1"/>
            <a:ext cx="5150277" cy="289703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522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75782C-DDA0-4BE0-AF3D-68B0B6F1D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100" b="1"/>
              <a:t>Esquemas de Validación Pydantic (schemas.py)</a:t>
            </a:r>
            <a:endParaRPr lang="es-MX" sz="41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203F53-2E15-93FE-BB66-12A820888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algn="just"/>
            <a:r>
              <a:rPr lang="es-MX" sz="2000" dirty="0"/>
              <a:t>Define las estructuras JSON esperadas tanto para la entrada de datos (peticiones POST y PUT) como para la respuesta del servidor (</a:t>
            </a:r>
            <a:r>
              <a:rPr lang="es-MX" sz="2000" dirty="0" err="1"/>
              <a:t>ProductoResponse</a:t>
            </a:r>
            <a:r>
              <a:rPr lang="es-MX" sz="2000" dirty="0"/>
              <a:t>), garantizando un tipado estricto.</a:t>
            </a:r>
          </a:p>
          <a:p>
            <a:endParaRPr lang="es-MX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4002B2-3CCE-1C77-4CCC-EBDCB9921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1"/>
            <a:ext cx="5150277" cy="289703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5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5A5F1D7-F0D0-4687-9BD3-CA6A0714C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59078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D00244-A229-1F51-094A-EEE7B5D5A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73940"/>
            <a:ext cx="4928291" cy="1035781"/>
          </a:xfrm>
        </p:spPr>
        <p:txBody>
          <a:bodyPr anchor="ctr">
            <a:normAutofit/>
          </a:bodyPr>
          <a:lstStyle/>
          <a:p>
            <a:r>
              <a:rPr lang="es-MX" sz="3300" b="1"/>
              <a:t>Endpoints y Controladores (main.py)</a:t>
            </a:r>
            <a:endParaRPr lang="es-MX" sz="33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A9294D-D920-7EAB-618C-F0DA5E59B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9" y="2524721"/>
            <a:ext cx="4991629" cy="3677123"/>
          </a:xfrm>
        </p:spPr>
        <p:txBody>
          <a:bodyPr anchor="ctr">
            <a:normAutofit/>
          </a:bodyPr>
          <a:lstStyle/>
          <a:p>
            <a:pPr algn="just"/>
            <a:r>
              <a:rPr lang="es-MX" sz="1800" dirty="0"/>
              <a:t>Inicializa la aplicación </a:t>
            </a:r>
            <a:r>
              <a:rPr lang="es-MX" sz="1800" dirty="0" err="1"/>
              <a:t>FastAPI</a:t>
            </a:r>
            <a:r>
              <a:rPr lang="es-MX" sz="1800" dirty="0"/>
              <a:t>, crea automáticamente la tabla al arrancar con </a:t>
            </a:r>
            <a:r>
              <a:rPr lang="es-MX" sz="1800" dirty="0" err="1"/>
              <a:t>Base.metadata.create_all</a:t>
            </a:r>
            <a:r>
              <a:rPr lang="es-MX" sz="1800" dirty="0"/>
              <a:t> e implementa las rutas CRUD completas integradas con las sesiones de la base de datos.</a:t>
            </a:r>
          </a:p>
          <a:p>
            <a:endParaRPr lang="es-MX" sz="18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AC90D36-8036-CA85-ED94-04A43261AA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2" b="4"/>
          <a:stretch>
            <a:fillRect/>
          </a:stretch>
        </p:blipFill>
        <p:spPr>
          <a:xfrm>
            <a:off x="6788383" y="613148"/>
            <a:ext cx="4565417" cy="267919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2EEEDD3-896F-934B-613E-67C0C10AFE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52" b="4"/>
          <a:stretch>
            <a:fillRect/>
          </a:stretch>
        </p:blipFill>
        <p:spPr>
          <a:xfrm>
            <a:off x="6788383" y="3528753"/>
            <a:ext cx="4565417" cy="2679192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4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9E7B8D-B88B-A322-8527-C2F1A88B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EJERCICIO 2: API REST DE GESTIÓN DE FARMACIA EN BUN Y ELYSIA.JS</a:t>
            </a:r>
          </a:p>
        </p:txBody>
      </p:sp>
    </p:spTree>
    <p:extLst>
      <p:ext uri="{BB962C8B-B14F-4D97-AF65-F5344CB8AC3E}">
        <p14:creationId xmlns:p14="http://schemas.microsoft.com/office/powerpoint/2010/main" val="3592954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2">
            <a:extLst>
              <a:ext uri="{FF2B5EF4-FFF2-40B4-BE49-F238E27FC236}">
                <a16:creationId xmlns:a16="http://schemas.microsoft.com/office/drawing/2014/main" id="{1DC5A442-E2D0-4F6D-894C-999AF89A7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24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CC524C-6677-DCAF-49AF-5325F748B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646" y="349664"/>
            <a:ext cx="5845571" cy="1638377"/>
          </a:xfrm>
        </p:spPr>
        <p:txBody>
          <a:bodyPr anchor="b">
            <a:normAutofit/>
          </a:bodyPr>
          <a:lstStyle/>
          <a:p>
            <a:r>
              <a:rPr lang="es-MX" sz="4800" b="1"/>
              <a:t>Descripción de la Práctica</a:t>
            </a:r>
            <a:endParaRPr lang="es-MX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60A267-4257-9C24-A5E4-2D078B4E4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988" y="2620641"/>
            <a:ext cx="5837750" cy="3023702"/>
          </a:xfrm>
        </p:spPr>
        <p:txBody>
          <a:bodyPr anchor="ctr">
            <a:normAutofit/>
          </a:bodyPr>
          <a:lstStyle/>
          <a:p>
            <a:pPr algn="just"/>
            <a:r>
              <a:rPr lang="es-MX" sz="2000" dirty="0"/>
              <a:t>Construir una API REST </a:t>
            </a:r>
            <a:r>
              <a:rPr lang="es-MX" sz="2000" dirty="0" err="1"/>
              <a:t>ultra-rápida</a:t>
            </a:r>
            <a:r>
              <a:rPr lang="es-MX" sz="2000" dirty="0"/>
              <a:t> utilizando el entorno de ejecución </a:t>
            </a:r>
            <a:r>
              <a:rPr lang="es-MX" sz="2000" b="1" dirty="0"/>
              <a:t>Bun</a:t>
            </a:r>
            <a:r>
              <a:rPr lang="es-MX" sz="2000" dirty="0"/>
              <a:t>, el </a:t>
            </a:r>
            <a:r>
              <a:rPr lang="es-MX" sz="2000" dirty="0" err="1"/>
              <a:t>framework</a:t>
            </a:r>
            <a:r>
              <a:rPr lang="es-MX" sz="2000" dirty="0"/>
              <a:t> </a:t>
            </a:r>
            <a:r>
              <a:rPr lang="es-MX" sz="2000" b="1" dirty="0"/>
              <a:t>Elysia.js</a:t>
            </a:r>
            <a:r>
              <a:rPr lang="es-MX" sz="2000" dirty="0"/>
              <a:t>, el driver nativo </a:t>
            </a:r>
            <a:r>
              <a:rPr lang="es-MX" sz="2000" b="1" dirty="0" err="1"/>
              <a:t>postgres</a:t>
            </a:r>
            <a:r>
              <a:rPr lang="es-MX" sz="2000" dirty="0"/>
              <a:t> y </a:t>
            </a:r>
            <a:r>
              <a:rPr lang="es-MX" sz="2000" b="1" dirty="0"/>
              <a:t>PostgreSQL</a:t>
            </a:r>
            <a:r>
              <a:rPr lang="es-MX" sz="2000" dirty="0"/>
              <a:t>. La solución incluye </a:t>
            </a:r>
            <a:r>
              <a:rPr lang="es-MX" sz="2000" dirty="0" err="1"/>
              <a:t>automigración</a:t>
            </a:r>
            <a:r>
              <a:rPr lang="es-MX" sz="2000" dirty="0"/>
              <a:t> de tablas SQL e integración directa de consultas SQL parametrizadas.</a:t>
            </a:r>
          </a:p>
          <a:p>
            <a:endParaRPr lang="es-MX" sz="2000" dirty="0"/>
          </a:p>
        </p:txBody>
      </p:sp>
      <p:sp>
        <p:nvSpPr>
          <p:cNvPr id="34" name="Rectangle 26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99675"/>
            <a:ext cx="4647368" cy="2779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FE38937-1E4F-6F70-2061-100A1FFE6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110" y="596271"/>
            <a:ext cx="4224042" cy="238658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BB19363-8354-4E75-A15C-A08F75517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429000"/>
            <a:ext cx="4647368" cy="2779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1ACB272-C1C8-D004-2D04-1B05165BA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374" y="3627649"/>
            <a:ext cx="4235516" cy="2382478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74185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05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F8266A-5241-B3B7-4BC6-DA8E15E51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s-MX" sz="4800" b="1"/>
              <a:t>Variables de Entorno (.env)</a:t>
            </a:r>
            <a:endParaRPr lang="es-MX" sz="48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2070B6-848F-8373-4F3C-C36215FCE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algn="just"/>
            <a:r>
              <a:rPr lang="es-MX" sz="2000" dirty="0"/>
              <a:t>Configuración centralizada para la variable DATABASE_URL y el puerto del servidor web en la raíz del proyecto.</a:t>
            </a:r>
          </a:p>
          <a:p>
            <a:endParaRPr lang="es-MX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B9535A8-0DFF-DB69-8117-56357E701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892861"/>
            <a:ext cx="5150277" cy="289703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826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CF6C4CE-062D-BCCC-3566-962A0CD66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320" y="623275"/>
            <a:ext cx="2369330" cy="5607882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76029" y="623275"/>
            <a:ext cx="6570797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B38D57-3D0B-10FC-DB0D-4F55B11DF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5659" y="1188637"/>
            <a:ext cx="5642312" cy="1597228"/>
          </a:xfrm>
        </p:spPr>
        <p:txBody>
          <a:bodyPr>
            <a:normAutofit/>
          </a:bodyPr>
          <a:lstStyle/>
          <a:p>
            <a:r>
              <a:rPr lang="es-MX" sz="3400" b="1"/>
              <a:t>Conexión SQL e Inicialización Automática (src/db.ts)</a:t>
            </a:r>
            <a:endParaRPr lang="es-MX" sz="34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CACEF6-150D-4080-254B-F4B844693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5660" y="2998278"/>
            <a:ext cx="4370103" cy="2728198"/>
          </a:xfrm>
        </p:spPr>
        <p:txBody>
          <a:bodyPr>
            <a:normAutofit/>
          </a:bodyPr>
          <a:lstStyle/>
          <a:p>
            <a:pPr algn="just"/>
            <a:r>
              <a:rPr lang="es-MX" sz="2000" dirty="0"/>
              <a:t>Establece la conexión utilizando </a:t>
            </a:r>
            <a:r>
              <a:rPr lang="es-MX" sz="2000" dirty="0" err="1"/>
              <a:t>postgres</a:t>
            </a:r>
            <a:r>
              <a:rPr lang="es-MX" sz="2000" dirty="0"/>
              <a:t> (driver nativo de alto rendimiento). Define e invoca la función </a:t>
            </a:r>
            <a:r>
              <a:rPr lang="es-MX" sz="2000" dirty="0" err="1"/>
              <a:t>initDb</a:t>
            </a:r>
            <a:r>
              <a:rPr lang="es-MX" sz="2000" dirty="0"/>
              <a:t>(), la cual ejecuta una instrucción CREATE TABLE IF NOT EXISTS para garantizar que la tabla medicamentos exista en PostgreSQL antes de recibir peticiones.</a:t>
            </a:r>
          </a:p>
          <a:p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865430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687420-BEB4-45CD-8226-339BE553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A8022C3-A283-5450-431B-6D916FCA7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s-MX" sz="2500" b="1"/>
              <a:t>Definición de Rutas y Controladores (src/routes/medicamentos.ts)</a:t>
            </a:r>
            <a:endParaRPr lang="es-MX" sz="25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4FB343-EA8B-CC4D-F719-123F54527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algn="just"/>
            <a:r>
              <a:rPr lang="es-MX" sz="1800" dirty="0"/>
              <a:t>Utiliza las capacidades de </a:t>
            </a:r>
            <a:r>
              <a:rPr lang="es-MX" sz="1800" b="1" dirty="0"/>
              <a:t>Elysia.js</a:t>
            </a:r>
            <a:r>
              <a:rPr lang="es-MX" sz="1800" dirty="0"/>
              <a:t> y </a:t>
            </a:r>
            <a:r>
              <a:rPr lang="es-MX" sz="1800" b="1" dirty="0" err="1"/>
              <a:t>TypeBox</a:t>
            </a:r>
            <a:r>
              <a:rPr lang="es-MX" sz="1800" dirty="0"/>
              <a:t> (t) para validar el cuerpo JSON de entrada y ejecuta consultas SQL parametrizadas directas, evitando ataques de inyección SQL mediante plantillas de etiquetas (</a:t>
            </a:r>
            <a:r>
              <a:rPr lang="es-MX" sz="1800" i="1" dirty="0" err="1"/>
              <a:t>tagged</a:t>
            </a:r>
            <a:r>
              <a:rPr lang="es-MX" sz="1800" i="1" dirty="0"/>
              <a:t> template </a:t>
            </a:r>
            <a:r>
              <a:rPr lang="es-MX" sz="1800" i="1" dirty="0" err="1"/>
              <a:t>literals</a:t>
            </a:r>
            <a:r>
              <a:rPr lang="es-MX" sz="1800" dirty="0"/>
              <a:t>).</a:t>
            </a:r>
          </a:p>
          <a:p>
            <a:endParaRPr lang="es-MX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2464328-13F6-F906-B92D-009E501730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1" r="39229" b="1"/>
          <a:stretch>
            <a:fillRect/>
          </a:stretch>
        </p:blipFill>
        <p:spPr>
          <a:xfrm>
            <a:off x="5987738" y="650494"/>
            <a:ext cx="5628018" cy="53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74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664E23E2-7440-4E36-A67B-0F88C5F7E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6949AE-010D-4C18-8AED-7872085AD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709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3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E78E67E-4BFF-CE00-F631-868920C96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80" y="1993278"/>
            <a:ext cx="5129784" cy="288550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E54AADB-50C7-4293-94C0-27361A32B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1" cy="5897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43E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EE8943B-8CFE-622E-3929-6E8DE0463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034" y="1999073"/>
            <a:ext cx="5129784" cy="2859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781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B03506-3F43-8394-072F-432FC87B1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s-MX" sz="3600" b="1"/>
              <a:t>Servidor Principal (src/index.ts)</a:t>
            </a:r>
            <a:endParaRPr lang="es-MX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ED71ED-C3E1-A9FD-2829-C492E4E03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pPr algn="just"/>
            <a:r>
              <a:rPr lang="es-MX" sz="1800" dirty="0"/>
              <a:t>Punto de entrada de la aplicación. Ejecuta la inicialización de la base de datos, habilita la política de recursos de origen cruzado (CORS) y levanta el servidor HTTP.</a:t>
            </a:r>
          </a:p>
          <a:p>
            <a:endParaRPr lang="es-MX" sz="18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EF3C48-7BB4-2794-59A7-1167067E2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729684"/>
            <a:ext cx="5628018" cy="31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908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F9D6F4-D4E9-8B47-A9B2-EE82412A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s-MX" sz="4800" b="1" dirty="0"/>
              <a:t>CONCLUSIÓN</a:t>
            </a:r>
            <a:endParaRPr lang="es-MX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F9CF05-0A1A-064F-12F8-5968E9AAE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algn="just"/>
            <a:r>
              <a:rPr lang="es-MX" sz="1500" dirty="0"/>
              <a:t>El desarrollo de este banco de ejercicios permitió afianzar conceptos clave en el diseño de arquitecturas </a:t>
            </a:r>
            <a:r>
              <a:rPr lang="es-MX" sz="1500" dirty="0" err="1"/>
              <a:t>backend</a:t>
            </a:r>
            <a:r>
              <a:rPr lang="es-MX" sz="1500" dirty="0"/>
              <a:t> modernas y la persistencia de datos relacionales:</a:t>
            </a:r>
          </a:p>
          <a:p>
            <a:pPr lvl="0" algn="just"/>
            <a:r>
              <a:rPr lang="es-MX" sz="1500" b="1" dirty="0"/>
              <a:t>Abstracción y Seguridad:</a:t>
            </a:r>
            <a:r>
              <a:rPr lang="es-MX" sz="1500" dirty="0"/>
              <a:t> Se comprobó que el uso de variables de entorno (.</a:t>
            </a:r>
            <a:r>
              <a:rPr lang="es-MX" sz="1500" dirty="0" err="1"/>
              <a:t>env</a:t>
            </a:r>
            <a:r>
              <a:rPr lang="es-MX" sz="1500" dirty="0"/>
              <a:t>) garantiza un aislamiento adecuado de credenciales sensibles, mientras que la parametrización de consultas en SQL directo y el uso de ORMs como </a:t>
            </a:r>
            <a:r>
              <a:rPr lang="es-MX" sz="1500" dirty="0" err="1"/>
              <a:t>SQLAlchemy</a:t>
            </a:r>
            <a:r>
              <a:rPr lang="es-MX" sz="1500" dirty="0"/>
              <a:t> previenen vulnerabilidades de inyección SQL.</a:t>
            </a:r>
          </a:p>
          <a:p>
            <a:pPr lvl="0" algn="just"/>
            <a:r>
              <a:rPr lang="es-MX" sz="1500" b="1" dirty="0"/>
              <a:t>Comparativa de Rendimiento y Tecnologías:</a:t>
            </a:r>
            <a:r>
              <a:rPr lang="es-MX" sz="1500" dirty="0"/>
              <a:t> La implementación de servicios en </a:t>
            </a:r>
            <a:r>
              <a:rPr lang="es-MX" sz="1500" b="1" dirty="0" err="1"/>
              <a:t>FastAPI</a:t>
            </a:r>
            <a:r>
              <a:rPr lang="es-MX" sz="1500" dirty="0"/>
              <a:t> demostró la solidez del ecosistema Python y </a:t>
            </a:r>
            <a:r>
              <a:rPr lang="es-MX" sz="1500" dirty="0" err="1"/>
              <a:t>Pydantic</a:t>
            </a:r>
            <a:r>
              <a:rPr lang="es-MX" sz="1500" dirty="0"/>
              <a:t> para la validación estricta y generación de documentación. Por otro lado, la pila basada en </a:t>
            </a:r>
            <a:r>
              <a:rPr lang="es-MX" sz="1500" b="1" dirty="0"/>
              <a:t>Bun</a:t>
            </a:r>
            <a:r>
              <a:rPr lang="es-MX" sz="1500" dirty="0"/>
              <a:t> y </a:t>
            </a:r>
            <a:r>
              <a:rPr lang="es-MX" sz="1500" b="1" dirty="0"/>
              <a:t>Elysia.js</a:t>
            </a:r>
            <a:r>
              <a:rPr lang="es-MX" sz="1500" dirty="0"/>
              <a:t> ofreció tiempos de arranque e integración de </a:t>
            </a:r>
            <a:r>
              <a:rPr lang="es-MX" sz="1500" dirty="0" err="1"/>
              <a:t>endpoints</a:t>
            </a:r>
            <a:r>
              <a:rPr lang="es-MX" sz="1500" dirty="0"/>
              <a:t> significativamente más ágiles.</a:t>
            </a:r>
          </a:p>
          <a:p>
            <a:pPr lvl="0" algn="just"/>
            <a:r>
              <a:rPr lang="es-MX" sz="1500" b="1" dirty="0"/>
              <a:t>Automatización:</a:t>
            </a:r>
            <a:r>
              <a:rPr lang="es-MX" sz="1500" dirty="0"/>
              <a:t> Se demostró la importancia de integrar scripts de </a:t>
            </a:r>
            <a:r>
              <a:rPr lang="es-MX" sz="1500" dirty="0" err="1"/>
              <a:t>automigración</a:t>
            </a:r>
            <a:r>
              <a:rPr lang="es-MX" sz="1500" dirty="0"/>
              <a:t> de esquemas (CREATE TABLE IF NOT EXISTS o </a:t>
            </a:r>
            <a:r>
              <a:rPr lang="es-MX" sz="1500" dirty="0" err="1"/>
              <a:t>Base.metadata.create_all</a:t>
            </a:r>
            <a:r>
              <a:rPr lang="es-MX" sz="1500" dirty="0"/>
              <a:t>) dentro de la inicialización del servidor, garantizando que el entorno de base de datos se encuentre siempre sincronizado antes de recibir tráfico de red.</a:t>
            </a:r>
          </a:p>
          <a:p>
            <a:endParaRPr lang="es-MX" sz="15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302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B270B3-9667-E273-B494-903548199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s-MX" sz="4800" b="1" dirty="0"/>
              <a:t>FUENTES DE INFORMACIÓN</a:t>
            </a:r>
            <a:endParaRPr lang="es-MX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F3FEF4C-3CC0-8194-947C-28A29008F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es-MX" sz="1300" b="1"/>
              <a:t>Bun Documentation.</a:t>
            </a:r>
            <a:r>
              <a:rPr lang="es-MX" sz="1300"/>
              <a:t> (2026). </a:t>
            </a:r>
            <a:r>
              <a:rPr lang="es-MX" sz="1300" i="1"/>
              <a:t>Bun runtime, package manager, and bundler documentation</a:t>
            </a:r>
            <a:r>
              <a:rPr lang="es-MX" sz="1300"/>
              <a:t>. Recuperado de </a:t>
            </a:r>
            <a:r>
              <a:rPr lang="es-MX" sz="1300">
                <a:hlinkClick r:id="rId2"/>
              </a:rPr>
              <a:t>https://bun.sh/docs</a:t>
            </a:r>
            <a:endParaRPr lang="es-MX" sz="1300"/>
          </a:p>
          <a:p>
            <a:pPr lvl="0"/>
            <a:r>
              <a:rPr lang="es-MX" sz="1300" b="1"/>
              <a:t>Elysia.js Documentation.</a:t>
            </a:r>
            <a:r>
              <a:rPr lang="es-MX" sz="1300"/>
              <a:t> (2026). </a:t>
            </a:r>
            <a:r>
              <a:rPr lang="es-MX" sz="1300" i="1"/>
              <a:t>Elysia - Ergonomic Framework for Humans</a:t>
            </a:r>
            <a:r>
              <a:rPr lang="es-MX" sz="1300"/>
              <a:t>. Recuperado de </a:t>
            </a:r>
            <a:r>
              <a:rPr lang="es-MX" sz="1300">
                <a:hlinkClick r:id="rId3"/>
              </a:rPr>
              <a:t>https://elysiajs.com</a:t>
            </a:r>
            <a:endParaRPr lang="es-MX" sz="1300"/>
          </a:p>
          <a:p>
            <a:pPr lvl="0"/>
            <a:r>
              <a:rPr lang="es-MX" sz="1300" b="1"/>
              <a:t>FastAPI Documentation.</a:t>
            </a:r>
            <a:r>
              <a:rPr lang="es-MX" sz="1300"/>
              <a:t> (2026). </a:t>
            </a:r>
            <a:r>
              <a:rPr lang="es-MX" sz="1300" i="1"/>
              <a:t>FastAPI framework, high performance, easy to learn, fast to code</a:t>
            </a:r>
            <a:r>
              <a:rPr lang="es-MX" sz="1300"/>
              <a:t>. Recuperado de </a:t>
            </a:r>
            <a:r>
              <a:rPr lang="es-MX" sz="1300">
                <a:hlinkClick r:id="rId4"/>
              </a:rPr>
              <a:t>https://fastapi.tiangolo.com/</a:t>
            </a:r>
            <a:endParaRPr lang="es-MX" sz="1300"/>
          </a:p>
          <a:p>
            <a:pPr lvl="0"/>
            <a:r>
              <a:rPr lang="es-MX" sz="1300" b="1"/>
              <a:t>PostgreSQL Global Development Group.</a:t>
            </a:r>
            <a:r>
              <a:rPr lang="es-MX" sz="1300"/>
              <a:t> (2026). </a:t>
            </a:r>
            <a:r>
              <a:rPr lang="es-MX" sz="1300" i="1"/>
              <a:t>PostgreSQL 16 Documentation</a:t>
            </a:r>
            <a:r>
              <a:rPr lang="es-MX" sz="1300"/>
              <a:t>. Recuperado de </a:t>
            </a:r>
            <a:r>
              <a:rPr lang="es-MX" sz="1300">
                <a:hlinkClick r:id="rId5"/>
              </a:rPr>
              <a:t>https://www.postgresql.org/docs/</a:t>
            </a:r>
            <a:endParaRPr lang="es-MX" sz="1300"/>
          </a:p>
          <a:p>
            <a:pPr lvl="0"/>
            <a:r>
              <a:rPr lang="es-MX" sz="1300" b="1"/>
              <a:t>SQLAlchemy Documentation.</a:t>
            </a:r>
            <a:r>
              <a:rPr lang="es-MX" sz="1300"/>
              <a:t> (2026). </a:t>
            </a:r>
            <a:r>
              <a:rPr lang="es-MX" sz="1300" i="1"/>
              <a:t>SQLAlchemy - The Database Toolkit for Python</a:t>
            </a:r>
            <a:r>
              <a:rPr lang="es-MX" sz="1300"/>
              <a:t>. Recuperado de </a:t>
            </a:r>
            <a:r>
              <a:rPr lang="es-MX" sz="1300">
                <a:hlinkClick r:id="rId6"/>
              </a:rPr>
              <a:t>https://www.sqlalchemy.org/</a:t>
            </a:r>
            <a:endParaRPr lang="es-MX" sz="1300"/>
          </a:p>
          <a:p>
            <a:pPr lvl="0"/>
            <a:r>
              <a:rPr lang="es-MX" sz="1300" b="1"/>
              <a:t>porsager/postgres.</a:t>
            </a:r>
            <a:r>
              <a:rPr lang="es-MX" sz="1300"/>
              <a:t> (2026). </a:t>
            </a:r>
            <a:r>
              <a:rPr lang="es-MX" sz="1300" i="1"/>
              <a:t>Postgres.js - The Fastest PostgreSQL Client for Node.js and Bun</a:t>
            </a:r>
            <a:r>
              <a:rPr lang="es-MX" sz="1300"/>
              <a:t>. Recuperado de </a:t>
            </a:r>
            <a:r>
              <a:rPr lang="es-MX" sz="1300">
                <a:hlinkClick r:id="rId7"/>
              </a:rPr>
              <a:t>https://github.com/porsager/postgres</a:t>
            </a:r>
            <a:endParaRPr lang="es-MX" sz="1300"/>
          </a:p>
          <a:p>
            <a:pPr lvl="0"/>
            <a:r>
              <a:rPr lang="es-MX" sz="1300" b="1"/>
              <a:t>Bruno API Client.</a:t>
            </a:r>
            <a:r>
              <a:rPr lang="es-MX" sz="1300"/>
              <a:t> (2026). </a:t>
            </a:r>
            <a:r>
              <a:rPr lang="es-MX" sz="1300" i="1"/>
              <a:t>Re-inventing the API Client</a:t>
            </a:r>
            <a:r>
              <a:rPr lang="es-MX" sz="1300"/>
              <a:t>. Recuperado de </a:t>
            </a:r>
            <a:r>
              <a:rPr lang="es-MX" sz="1300">
                <a:hlinkClick r:id="rId8"/>
              </a:rPr>
              <a:t>https://www.usebruno.com</a:t>
            </a:r>
            <a:endParaRPr lang="es-MX" sz="1300"/>
          </a:p>
          <a:p>
            <a:endParaRPr lang="es-MX" sz="13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150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1217</Words>
  <Application>Microsoft Office PowerPoint</Application>
  <PresentationFormat>Panorámica</PresentationFormat>
  <Paragraphs>62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Times New Roman</vt:lpstr>
      <vt:lpstr>Tema de Office</vt:lpstr>
      <vt:lpstr>o</vt:lpstr>
      <vt:lpstr>INTRODUCCIÓN</vt:lpstr>
      <vt:lpstr>JUSTIFICACIÓN</vt:lpstr>
      <vt:lpstr>EJERCICIO 1: API REST DE GESTIÓN DE PRODUCTOS EN FASTAPI Y SQLALCHEMY</vt:lpstr>
      <vt:lpstr>Descripción de la Práctica</vt:lpstr>
      <vt:lpstr>Configuración del Entorno y Variables (.env)</vt:lpstr>
      <vt:lpstr>Conexión a la Base de Datos (database.py)</vt:lpstr>
      <vt:lpstr>Modelo de la Base de Datos (models.py)</vt:lpstr>
      <vt:lpstr>Esquemas de Validación Pydantic (schemas.py)</vt:lpstr>
      <vt:lpstr>Endpoints y Controladores (main.py)</vt:lpstr>
      <vt:lpstr>EJERCICIO 2: API REST DE GESTIÓN DE FARMACIA EN BUN Y ELYSIA.JS</vt:lpstr>
      <vt:lpstr>Descripción de la Práctica</vt:lpstr>
      <vt:lpstr>Variables de Entorno (.env)</vt:lpstr>
      <vt:lpstr>Conexión SQL e Inicialización Automática (src/db.ts)</vt:lpstr>
      <vt:lpstr>Definición de Rutas y Controladores (src/routes/medicamentos.ts)</vt:lpstr>
      <vt:lpstr>Presentación de PowerPoint</vt:lpstr>
      <vt:lpstr>Servidor Principal (src/index.ts)</vt:lpstr>
      <vt:lpstr>CONCLUSIÓN</vt:lpstr>
      <vt:lpstr>FUENTES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Eduardo Villarreal Lopez</dc:creator>
  <cp:lastModifiedBy>Jesus Eduardo Villarreal Lopez</cp:lastModifiedBy>
  <cp:revision>1</cp:revision>
  <dcterms:created xsi:type="dcterms:W3CDTF">2026-10-09T17:57:15Z</dcterms:created>
  <dcterms:modified xsi:type="dcterms:W3CDTF">2026-10-09T18:33:11Z</dcterms:modified>
</cp:coreProperties>
</file>