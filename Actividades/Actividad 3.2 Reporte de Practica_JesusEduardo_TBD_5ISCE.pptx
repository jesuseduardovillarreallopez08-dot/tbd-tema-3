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E095692-D461-15C0-107C-1AF47F379E6C}"/>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p>
        </p:txBody>
      </p:sp>
      <p:sp>
        <p:nvSpPr>
          <p:cNvPr id="3" name="Subtítulo 2">
            <a:extLst>
              <a:ext uri="{FF2B5EF4-FFF2-40B4-BE49-F238E27FC236}">
                <a16:creationId xmlns:a16="http://schemas.microsoft.com/office/drawing/2014/main" id="{C1B13C78-2165-9D44-B3A2-9AE92B7F81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p>
        </p:txBody>
      </p:sp>
      <p:sp>
        <p:nvSpPr>
          <p:cNvPr id="4" name="Marcador de fecha 3">
            <a:extLst>
              <a:ext uri="{FF2B5EF4-FFF2-40B4-BE49-F238E27FC236}">
                <a16:creationId xmlns:a16="http://schemas.microsoft.com/office/drawing/2014/main" id="{44E8084C-972E-E95E-2EC8-54F1FFDE41C9}"/>
              </a:ext>
            </a:extLst>
          </p:cNvPr>
          <p:cNvSpPr>
            <a:spLocks noGrp="1"/>
          </p:cNvSpPr>
          <p:nvPr>
            <p:ph type="dt" sz="half" idx="10"/>
          </p:nvPr>
        </p:nvSpPr>
        <p:spPr/>
        <p:txBody>
          <a:bodyPr/>
          <a:lstStyle/>
          <a:p>
            <a:fld id="{26BA367B-5D27-4B64-BA27-489774D21916}" type="datetimeFigureOut">
              <a:rPr lang="es-MX" smtClean="0"/>
              <a:t>09/10/2026</a:t>
            </a:fld>
            <a:endParaRPr lang="es-MX"/>
          </a:p>
        </p:txBody>
      </p:sp>
      <p:sp>
        <p:nvSpPr>
          <p:cNvPr id="5" name="Marcador de pie de página 4">
            <a:extLst>
              <a:ext uri="{FF2B5EF4-FFF2-40B4-BE49-F238E27FC236}">
                <a16:creationId xmlns:a16="http://schemas.microsoft.com/office/drawing/2014/main" id="{E2C9890C-949F-BA55-9380-8883117DC1C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23732CBA-8716-73B2-E033-79805278630C}"/>
              </a:ext>
            </a:extLst>
          </p:cNvPr>
          <p:cNvSpPr>
            <a:spLocks noGrp="1"/>
          </p:cNvSpPr>
          <p:nvPr>
            <p:ph type="sldNum" sz="quarter" idx="12"/>
          </p:nvPr>
        </p:nvSpPr>
        <p:spPr/>
        <p:txBody>
          <a:bodyPr/>
          <a:lstStyle/>
          <a:p>
            <a:fld id="{06E1BC3C-D8F2-4528-B212-80F7DBDD5604}" type="slidenum">
              <a:rPr lang="es-MX" smtClean="0"/>
              <a:t>‹Nº›</a:t>
            </a:fld>
            <a:endParaRPr lang="es-MX"/>
          </a:p>
        </p:txBody>
      </p:sp>
    </p:spTree>
    <p:extLst>
      <p:ext uri="{BB962C8B-B14F-4D97-AF65-F5344CB8AC3E}">
        <p14:creationId xmlns:p14="http://schemas.microsoft.com/office/powerpoint/2010/main" val="33454781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F52852-9C4C-8F86-A768-99A5A4299F3D}"/>
              </a:ext>
            </a:extLst>
          </p:cNvPr>
          <p:cNvSpPr>
            <a:spLocks noGrp="1"/>
          </p:cNvSpPr>
          <p:nvPr>
            <p:ph type="title"/>
          </p:nvPr>
        </p:nvSpPr>
        <p:spPr/>
        <p:txBody>
          <a:body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96C1E7C3-8A1E-0691-6F1D-49944A29DC14}"/>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2EA0366C-1D34-F278-E8BB-2862E5E5C041}"/>
              </a:ext>
            </a:extLst>
          </p:cNvPr>
          <p:cNvSpPr>
            <a:spLocks noGrp="1"/>
          </p:cNvSpPr>
          <p:nvPr>
            <p:ph type="dt" sz="half" idx="10"/>
          </p:nvPr>
        </p:nvSpPr>
        <p:spPr/>
        <p:txBody>
          <a:bodyPr/>
          <a:lstStyle/>
          <a:p>
            <a:fld id="{26BA367B-5D27-4B64-BA27-489774D21916}" type="datetimeFigureOut">
              <a:rPr lang="es-MX" smtClean="0"/>
              <a:t>09/10/2026</a:t>
            </a:fld>
            <a:endParaRPr lang="es-MX"/>
          </a:p>
        </p:txBody>
      </p:sp>
      <p:sp>
        <p:nvSpPr>
          <p:cNvPr id="5" name="Marcador de pie de página 4">
            <a:extLst>
              <a:ext uri="{FF2B5EF4-FFF2-40B4-BE49-F238E27FC236}">
                <a16:creationId xmlns:a16="http://schemas.microsoft.com/office/drawing/2014/main" id="{57EE2315-CC02-64D1-5D13-47D6AD21A28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A25733D-46F6-E420-F2AA-042A471ECCAD}"/>
              </a:ext>
            </a:extLst>
          </p:cNvPr>
          <p:cNvSpPr>
            <a:spLocks noGrp="1"/>
          </p:cNvSpPr>
          <p:nvPr>
            <p:ph type="sldNum" sz="quarter" idx="12"/>
          </p:nvPr>
        </p:nvSpPr>
        <p:spPr/>
        <p:txBody>
          <a:bodyPr/>
          <a:lstStyle/>
          <a:p>
            <a:fld id="{06E1BC3C-D8F2-4528-B212-80F7DBDD5604}" type="slidenum">
              <a:rPr lang="es-MX" smtClean="0"/>
              <a:t>‹Nº›</a:t>
            </a:fld>
            <a:endParaRPr lang="es-MX"/>
          </a:p>
        </p:txBody>
      </p:sp>
    </p:spTree>
    <p:extLst>
      <p:ext uri="{BB962C8B-B14F-4D97-AF65-F5344CB8AC3E}">
        <p14:creationId xmlns:p14="http://schemas.microsoft.com/office/powerpoint/2010/main" val="92775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27F47C-4C49-8892-5702-6C2AEE7AB16A}"/>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p>
        </p:txBody>
      </p:sp>
      <p:sp>
        <p:nvSpPr>
          <p:cNvPr id="3" name="Marcador de texto 2">
            <a:extLst>
              <a:ext uri="{FF2B5EF4-FFF2-40B4-BE49-F238E27FC236}">
                <a16:creationId xmlns:a16="http://schemas.microsoft.com/office/drawing/2014/main" id="{F863DFC6-7E29-80B4-F096-3304E14044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3E8814E2-467C-AAC5-9005-66E136D2FF53}"/>
              </a:ext>
            </a:extLst>
          </p:cNvPr>
          <p:cNvSpPr>
            <a:spLocks noGrp="1"/>
          </p:cNvSpPr>
          <p:nvPr>
            <p:ph type="dt" sz="half" idx="10"/>
          </p:nvPr>
        </p:nvSpPr>
        <p:spPr/>
        <p:txBody>
          <a:bodyPr/>
          <a:lstStyle/>
          <a:p>
            <a:fld id="{26BA367B-5D27-4B64-BA27-489774D21916}" type="datetimeFigureOut">
              <a:rPr lang="es-MX" smtClean="0"/>
              <a:t>09/10/2026</a:t>
            </a:fld>
            <a:endParaRPr lang="es-MX"/>
          </a:p>
        </p:txBody>
      </p:sp>
      <p:sp>
        <p:nvSpPr>
          <p:cNvPr id="5" name="Marcador de pie de página 4">
            <a:extLst>
              <a:ext uri="{FF2B5EF4-FFF2-40B4-BE49-F238E27FC236}">
                <a16:creationId xmlns:a16="http://schemas.microsoft.com/office/drawing/2014/main" id="{F0D699CD-DDF0-EA60-871E-C2EADC458F1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3FAE71AC-4782-9610-2F01-E4BCA7A302B4}"/>
              </a:ext>
            </a:extLst>
          </p:cNvPr>
          <p:cNvSpPr>
            <a:spLocks noGrp="1"/>
          </p:cNvSpPr>
          <p:nvPr>
            <p:ph type="sldNum" sz="quarter" idx="12"/>
          </p:nvPr>
        </p:nvSpPr>
        <p:spPr/>
        <p:txBody>
          <a:bodyPr/>
          <a:lstStyle/>
          <a:p>
            <a:fld id="{06E1BC3C-D8F2-4528-B212-80F7DBDD5604}" type="slidenum">
              <a:rPr lang="es-MX" smtClean="0"/>
              <a:t>‹Nº›</a:t>
            </a:fld>
            <a:endParaRPr lang="es-MX"/>
          </a:p>
        </p:txBody>
      </p:sp>
    </p:spTree>
    <p:extLst>
      <p:ext uri="{BB962C8B-B14F-4D97-AF65-F5344CB8AC3E}">
        <p14:creationId xmlns:p14="http://schemas.microsoft.com/office/powerpoint/2010/main" val="8707877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173D2C-D907-37EB-219B-256B6BA03C5F}"/>
              </a:ext>
            </a:extLst>
          </p:cNvPr>
          <p:cNvSpPr>
            <a:spLocks noGrp="1"/>
          </p:cNvSpPr>
          <p:nvPr>
            <p:ph type="title"/>
          </p:nvPr>
        </p:nvSpPr>
        <p:spPr/>
        <p:txBody>
          <a:body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4EAE87BA-1473-5A21-7C67-88FAF6691233}"/>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contenido 3">
            <a:extLst>
              <a:ext uri="{FF2B5EF4-FFF2-40B4-BE49-F238E27FC236}">
                <a16:creationId xmlns:a16="http://schemas.microsoft.com/office/drawing/2014/main" id="{BD0D235D-3123-57D6-834E-D8CA7CF56D26}"/>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fecha 4">
            <a:extLst>
              <a:ext uri="{FF2B5EF4-FFF2-40B4-BE49-F238E27FC236}">
                <a16:creationId xmlns:a16="http://schemas.microsoft.com/office/drawing/2014/main" id="{0E512DD3-A920-14F8-EE6D-2BC7B0A15503}"/>
              </a:ext>
            </a:extLst>
          </p:cNvPr>
          <p:cNvSpPr>
            <a:spLocks noGrp="1"/>
          </p:cNvSpPr>
          <p:nvPr>
            <p:ph type="dt" sz="half" idx="10"/>
          </p:nvPr>
        </p:nvSpPr>
        <p:spPr/>
        <p:txBody>
          <a:bodyPr/>
          <a:lstStyle/>
          <a:p>
            <a:fld id="{26BA367B-5D27-4B64-BA27-489774D21916}" type="datetimeFigureOut">
              <a:rPr lang="es-MX" smtClean="0"/>
              <a:t>09/10/2026</a:t>
            </a:fld>
            <a:endParaRPr lang="es-MX"/>
          </a:p>
        </p:txBody>
      </p:sp>
      <p:sp>
        <p:nvSpPr>
          <p:cNvPr id="6" name="Marcador de pie de página 5">
            <a:extLst>
              <a:ext uri="{FF2B5EF4-FFF2-40B4-BE49-F238E27FC236}">
                <a16:creationId xmlns:a16="http://schemas.microsoft.com/office/drawing/2014/main" id="{80F7DD09-6705-326E-F1A8-581BB1E7B8B3}"/>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2D7FD0D7-BB51-DE82-5B68-120DBD3FB8E4}"/>
              </a:ext>
            </a:extLst>
          </p:cNvPr>
          <p:cNvSpPr>
            <a:spLocks noGrp="1"/>
          </p:cNvSpPr>
          <p:nvPr>
            <p:ph type="sldNum" sz="quarter" idx="12"/>
          </p:nvPr>
        </p:nvSpPr>
        <p:spPr/>
        <p:txBody>
          <a:bodyPr/>
          <a:lstStyle/>
          <a:p>
            <a:fld id="{06E1BC3C-D8F2-4528-B212-80F7DBDD5604}" type="slidenum">
              <a:rPr lang="es-MX" smtClean="0"/>
              <a:t>‹Nº›</a:t>
            </a:fld>
            <a:endParaRPr lang="es-MX"/>
          </a:p>
        </p:txBody>
      </p:sp>
    </p:spTree>
    <p:extLst>
      <p:ext uri="{BB962C8B-B14F-4D97-AF65-F5344CB8AC3E}">
        <p14:creationId xmlns:p14="http://schemas.microsoft.com/office/powerpoint/2010/main" val="32682321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834899-A10A-9097-EB6D-8388BAD37521}"/>
              </a:ext>
            </a:extLst>
          </p:cNvPr>
          <p:cNvSpPr>
            <a:spLocks noGrp="1"/>
          </p:cNvSpPr>
          <p:nvPr>
            <p:ph type="title"/>
          </p:nvPr>
        </p:nvSpPr>
        <p:spPr>
          <a:xfrm>
            <a:off x="839788" y="365125"/>
            <a:ext cx="10515600" cy="1325563"/>
          </a:xfrm>
        </p:spPr>
        <p:txBody>
          <a:bodyPr/>
          <a:lstStyle/>
          <a:p>
            <a:r>
              <a:rPr lang="es-MX"/>
              <a:t>Haz clic para modificar el estilo de título del patrón</a:t>
            </a:r>
          </a:p>
        </p:txBody>
      </p:sp>
      <p:sp>
        <p:nvSpPr>
          <p:cNvPr id="3" name="Marcador de texto 2">
            <a:extLst>
              <a:ext uri="{FF2B5EF4-FFF2-40B4-BE49-F238E27FC236}">
                <a16:creationId xmlns:a16="http://schemas.microsoft.com/office/drawing/2014/main" id="{9BAF8212-A3AB-5938-1DC3-1CEC502DB2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DC5FC56F-7B05-8BD1-32C8-C060645B9B8B}"/>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texto 4">
            <a:extLst>
              <a:ext uri="{FF2B5EF4-FFF2-40B4-BE49-F238E27FC236}">
                <a16:creationId xmlns:a16="http://schemas.microsoft.com/office/drawing/2014/main" id="{4BC63113-3B8D-32BD-5476-5BC9C85BD2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F8CCE8E7-F17F-A3B0-061A-2C950CA5A466}"/>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7" name="Marcador de fecha 6">
            <a:extLst>
              <a:ext uri="{FF2B5EF4-FFF2-40B4-BE49-F238E27FC236}">
                <a16:creationId xmlns:a16="http://schemas.microsoft.com/office/drawing/2014/main" id="{AB04EA94-A451-9508-F9B9-65FB737B59B1}"/>
              </a:ext>
            </a:extLst>
          </p:cNvPr>
          <p:cNvSpPr>
            <a:spLocks noGrp="1"/>
          </p:cNvSpPr>
          <p:nvPr>
            <p:ph type="dt" sz="half" idx="10"/>
          </p:nvPr>
        </p:nvSpPr>
        <p:spPr/>
        <p:txBody>
          <a:bodyPr/>
          <a:lstStyle/>
          <a:p>
            <a:fld id="{26BA367B-5D27-4B64-BA27-489774D21916}" type="datetimeFigureOut">
              <a:rPr lang="es-MX" smtClean="0"/>
              <a:t>09/10/2026</a:t>
            </a:fld>
            <a:endParaRPr lang="es-MX"/>
          </a:p>
        </p:txBody>
      </p:sp>
      <p:sp>
        <p:nvSpPr>
          <p:cNvPr id="8" name="Marcador de pie de página 7">
            <a:extLst>
              <a:ext uri="{FF2B5EF4-FFF2-40B4-BE49-F238E27FC236}">
                <a16:creationId xmlns:a16="http://schemas.microsoft.com/office/drawing/2014/main" id="{234D3A2A-E416-C5CB-551D-39598B926B53}"/>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C8999188-24C6-6D61-E80D-D6E72D0D6037}"/>
              </a:ext>
            </a:extLst>
          </p:cNvPr>
          <p:cNvSpPr>
            <a:spLocks noGrp="1"/>
          </p:cNvSpPr>
          <p:nvPr>
            <p:ph type="sldNum" sz="quarter" idx="12"/>
          </p:nvPr>
        </p:nvSpPr>
        <p:spPr/>
        <p:txBody>
          <a:bodyPr/>
          <a:lstStyle/>
          <a:p>
            <a:fld id="{06E1BC3C-D8F2-4528-B212-80F7DBDD5604}" type="slidenum">
              <a:rPr lang="es-MX" smtClean="0"/>
              <a:t>‹Nº›</a:t>
            </a:fld>
            <a:endParaRPr lang="es-MX"/>
          </a:p>
        </p:txBody>
      </p:sp>
    </p:spTree>
    <p:extLst>
      <p:ext uri="{BB962C8B-B14F-4D97-AF65-F5344CB8AC3E}">
        <p14:creationId xmlns:p14="http://schemas.microsoft.com/office/powerpoint/2010/main" val="22147113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B3BFBF-BAD3-E93C-D7A3-93977F6A254B}"/>
              </a:ext>
            </a:extLst>
          </p:cNvPr>
          <p:cNvSpPr>
            <a:spLocks noGrp="1"/>
          </p:cNvSpPr>
          <p:nvPr>
            <p:ph type="title"/>
          </p:nvPr>
        </p:nvSpPr>
        <p:spPr/>
        <p:txBody>
          <a:bodyPr/>
          <a:lstStyle/>
          <a:p>
            <a:r>
              <a:rPr lang="es-MX"/>
              <a:t>Haz clic para modificar el estilo de título del patrón</a:t>
            </a:r>
          </a:p>
        </p:txBody>
      </p:sp>
      <p:sp>
        <p:nvSpPr>
          <p:cNvPr id="3" name="Marcador de fecha 2">
            <a:extLst>
              <a:ext uri="{FF2B5EF4-FFF2-40B4-BE49-F238E27FC236}">
                <a16:creationId xmlns:a16="http://schemas.microsoft.com/office/drawing/2014/main" id="{88B2BDAC-A22E-2993-F8E2-B5D1BD8A5D1C}"/>
              </a:ext>
            </a:extLst>
          </p:cNvPr>
          <p:cNvSpPr>
            <a:spLocks noGrp="1"/>
          </p:cNvSpPr>
          <p:nvPr>
            <p:ph type="dt" sz="half" idx="10"/>
          </p:nvPr>
        </p:nvSpPr>
        <p:spPr/>
        <p:txBody>
          <a:bodyPr/>
          <a:lstStyle/>
          <a:p>
            <a:fld id="{26BA367B-5D27-4B64-BA27-489774D21916}" type="datetimeFigureOut">
              <a:rPr lang="es-MX" smtClean="0"/>
              <a:t>09/10/2026</a:t>
            </a:fld>
            <a:endParaRPr lang="es-MX"/>
          </a:p>
        </p:txBody>
      </p:sp>
      <p:sp>
        <p:nvSpPr>
          <p:cNvPr id="4" name="Marcador de pie de página 3">
            <a:extLst>
              <a:ext uri="{FF2B5EF4-FFF2-40B4-BE49-F238E27FC236}">
                <a16:creationId xmlns:a16="http://schemas.microsoft.com/office/drawing/2014/main" id="{7B422C25-961E-A588-D1D0-B06E51E89FFA}"/>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F24829DB-8D0D-3A20-F1CF-DB73360CA565}"/>
              </a:ext>
            </a:extLst>
          </p:cNvPr>
          <p:cNvSpPr>
            <a:spLocks noGrp="1"/>
          </p:cNvSpPr>
          <p:nvPr>
            <p:ph type="sldNum" sz="quarter" idx="12"/>
          </p:nvPr>
        </p:nvSpPr>
        <p:spPr/>
        <p:txBody>
          <a:bodyPr/>
          <a:lstStyle/>
          <a:p>
            <a:fld id="{06E1BC3C-D8F2-4528-B212-80F7DBDD5604}" type="slidenum">
              <a:rPr lang="es-MX" smtClean="0"/>
              <a:t>‹Nº›</a:t>
            </a:fld>
            <a:endParaRPr lang="es-MX"/>
          </a:p>
        </p:txBody>
      </p:sp>
    </p:spTree>
    <p:extLst>
      <p:ext uri="{BB962C8B-B14F-4D97-AF65-F5344CB8AC3E}">
        <p14:creationId xmlns:p14="http://schemas.microsoft.com/office/powerpoint/2010/main" val="2539779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CCBE0C45-F400-677F-CCFD-D2AA11A30252}"/>
              </a:ext>
            </a:extLst>
          </p:cNvPr>
          <p:cNvSpPr>
            <a:spLocks noGrp="1"/>
          </p:cNvSpPr>
          <p:nvPr>
            <p:ph type="dt" sz="half" idx="10"/>
          </p:nvPr>
        </p:nvSpPr>
        <p:spPr/>
        <p:txBody>
          <a:bodyPr/>
          <a:lstStyle/>
          <a:p>
            <a:fld id="{26BA367B-5D27-4B64-BA27-489774D21916}" type="datetimeFigureOut">
              <a:rPr lang="es-MX" smtClean="0"/>
              <a:t>09/10/2026</a:t>
            </a:fld>
            <a:endParaRPr lang="es-MX"/>
          </a:p>
        </p:txBody>
      </p:sp>
      <p:sp>
        <p:nvSpPr>
          <p:cNvPr id="3" name="Marcador de pie de página 2">
            <a:extLst>
              <a:ext uri="{FF2B5EF4-FFF2-40B4-BE49-F238E27FC236}">
                <a16:creationId xmlns:a16="http://schemas.microsoft.com/office/drawing/2014/main" id="{76AE9F24-F3D5-2009-2242-AC7087D8E260}"/>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607BFEB9-F27A-7470-C203-D0A0D8C49E07}"/>
              </a:ext>
            </a:extLst>
          </p:cNvPr>
          <p:cNvSpPr>
            <a:spLocks noGrp="1"/>
          </p:cNvSpPr>
          <p:nvPr>
            <p:ph type="sldNum" sz="quarter" idx="12"/>
          </p:nvPr>
        </p:nvSpPr>
        <p:spPr/>
        <p:txBody>
          <a:bodyPr/>
          <a:lstStyle/>
          <a:p>
            <a:fld id="{06E1BC3C-D8F2-4528-B212-80F7DBDD5604}" type="slidenum">
              <a:rPr lang="es-MX" smtClean="0"/>
              <a:t>‹Nº›</a:t>
            </a:fld>
            <a:endParaRPr lang="es-MX"/>
          </a:p>
        </p:txBody>
      </p:sp>
    </p:spTree>
    <p:extLst>
      <p:ext uri="{BB962C8B-B14F-4D97-AF65-F5344CB8AC3E}">
        <p14:creationId xmlns:p14="http://schemas.microsoft.com/office/powerpoint/2010/main" val="5777361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479FDB-FCC1-6FAE-F24F-86A900A682DC}"/>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13E4918D-F1D0-7DF5-D90C-F240126DD8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texto 3">
            <a:extLst>
              <a:ext uri="{FF2B5EF4-FFF2-40B4-BE49-F238E27FC236}">
                <a16:creationId xmlns:a16="http://schemas.microsoft.com/office/drawing/2014/main" id="{D309603C-0A59-479C-20F0-1932B9E2F7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DE081EBD-A111-1559-3E9F-7C235B6368ED}"/>
              </a:ext>
            </a:extLst>
          </p:cNvPr>
          <p:cNvSpPr>
            <a:spLocks noGrp="1"/>
          </p:cNvSpPr>
          <p:nvPr>
            <p:ph type="dt" sz="half" idx="10"/>
          </p:nvPr>
        </p:nvSpPr>
        <p:spPr/>
        <p:txBody>
          <a:bodyPr/>
          <a:lstStyle/>
          <a:p>
            <a:fld id="{26BA367B-5D27-4B64-BA27-489774D21916}" type="datetimeFigureOut">
              <a:rPr lang="es-MX" smtClean="0"/>
              <a:t>09/10/2026</a:t>
            </a:fld>
            <a:endParaRPr lang="es-MX"/>
          </a:p>
        </p:txBody>
      </p:sp>
      <p:sp>
        <p:nvSpPr>
          <p:cNvPr id="6" name="Marcador de pie de página 5">
            <a:extLst>
              <a:ext uri="{FF2B5EF4-FFF2-40B4-BE49-F238E27FC236}">
                <a16:creationId xmlns:a16="http://schemas.microsoft.com/office/drawing/2014/main" id="{66D40B0F-D401-D3BB-8198-39EDE1B04E2A}"/>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6D5106D-165D-2396-7AE9-E48BDD24F4B0}"/>
              </a:ext>
            </a:extLst>
          </p:cNvPr>
          <p:cNvSpPr>
            <a:spLocks noGrp="1"/>
          </p:cNvSpPr>
          <p:nvPr>
            <p:ph type="sldNum" sz="quarter" idx="12"/>
          </p:nvPr>
        </p:nvSpPr>
        <p:spPr/>
        <p:txBody>
          <a:bodyPr/>
          <a:lstStyle/>
          <a:p>
            <a:fld id="{06E1BC3C-D8F2-4528-B212-80F7DBDD5604}" type="slidenum">
              <a:rPr lang="es-MX" smtClean="0"/>
              <a:t>‹Nº›</a:t>
            </a:fld>
            <a:endParaRPr lang="es-MX"/>
          </a:p>
        </p:txBody>
      </p:sp>
    </p:spTree>
    <p:extLst>
      <p:ext uri="{BB962C8B-B14F-4D97-AF65-F5344CB8AC3E}">
        <p14:creationId xmlns:p14="http://schemas.microsoft.com/office/powerpoint/2010/main" val="42209320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D425F1-0E70-1207-E845-D0BCD2AEA3ED}"/>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posición de imagen 2">
            <a:extLst>
              <a:ext uri="{FF2B5EF4-FFF2-40B4-BE49-F238E27FC236}">
                <a16:creationId xmlns:a16="http://schemas.microsoft.com/office/drawing/2014/main" id="{8C9DBCCE-5D6D-AF79-04D2-984DBA9BD01B}"/>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C34EDC6C-8920-DD38-7966-F0A19AD3B4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7B990A01-2CE8-3025-CA8B-A8102647F567}"/>
              </a:ext>
            </a:extLst>
          </p:cNvPr>
          <p:cNvSpPr>
            <a:spLocks noGrp="1"/>
          </p:cNvSpPr>
          <p:nvPr>
            <p:ph type="dt" sz="half" idx="10"/>
          </p:nvPr>
        </p:nvSpPr>
        <p:spPr/>
        <p:txBody>
          <a:bodyPr/>
          <a:lstStyle/>
          <a:p>
            <a:fld id="{26BA367B-5D27-4B64-BA27-489774D21916}" type="datetimeFigureOut">
              <a:rPr lang="es-MX" smtClean="0"/>
              <a:t>09/10/2026</a:t>
            </a:fld>
            <a:endParaRPr lang="es-MX"/>
          </a:p>
        </p:txBody>
      </p:sp>
      <p:sp>
        <p:nvSpPr>
          <p:cNvPr id="6" name="Marcador de pie de página 5">
            <a:extLst>
              <a:ext uri="{FF2B5EF4-FFF2-40B4-BE49-F238E27FC236}">
                <a16:creationId xmlns:a16="http://schemas.microsoft.com/office/drawing/2014/main" id="{A2A9562E-2966-BAF3-DF2D-07BA5039E9CF}"/>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2FE51130-0F09-FB6E-12B6-7D3B5FF6E79E}"/>
              </a:ext>
            </a:extLst>
          </p:cNvPr>
          <p:cNvSpPr>
            <a:spLocks noGrp="1"/>
          </p:cNvSpPr>
          <p:nvPr>
            <p:ph type="sldNum" sz="quarter" idx="12"/>
          </p:nvPr>
        </p:nvSpPr>
        <p:spPr/>
        <p:txBody>
          <a:bodyPr/>
          <a:lstStyle/>
          <a:p>
            <a:fld id="{06E1BC3C-D8F2-4528-B212-80F7DBDD5604}" type="slidenum">
              <a:rPr lang="es-MX" smtClean="0"/>
              <a:t>‹Nº›</a:t>
            </a:fld>
            <a:endParaRPr lang="es-MX"/>
          </a:p>
        </p:txBody>
      </p:sp>
    </p:spTree>
    <p:extLst>
      <p:ext uri="{BB962C8B-B14F-4D97-AF65-F5344CB8AC3E}">
        <p14:creationId xmlns:p14="http://schemas.microsoft.com/office/powerpoint/2010/main" val="9654191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6B6BFF-8C03-1DCE-60C9-AE87FE0C1785}"/>
              </a:ext>
            </a:extLst>
          </p:cNvPr>
          <p:cNvSpPr>
            <a:spLocks noGrp="1"/>
          </p:cNvSpPr>
          <p:nvPr>
            <p:ph type="title"/>
          </p:nvPr>
        </p:nvSpPr>
        <p:spPr/>
        <p:txBody>
          <a:bodyPr/>
          <a:lstStyle/>
          <a:p>
            <a:r>
              <a:rPr lang="es-MX"/>
              <a:t>Haz clic para modificar el estilo de título del patrón</a:t>
            </a:r>
          </a:p>
        </p:txBody>
      </p:sp>
      <p:sp>
        <p:nvSpPr>
          <p:cNvPr id="3" name="Marcador de texto vertical 2">
            <a:extLst>
              <a:ext uri="{FF2B5EF4-FFF2-40B4-BE49-F238E27FC236}">
                <a16:creationId xmlns:a16="http://schemas.microsoft.com/office/drawing/2014/main" id="{42474575-5428-CA8F-C045-7F2CF88C3EF8}"/>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ED4F6B22-563D-4F18-5EE4-00D1C4ECF58F}"/>
              </a:ext>
            </a:extLst>
          </p:cNvPr>
          <p:cNvSpPr>
            <a:spLocks noGrp="1"/>
          </p:cNvSpPr>
          <p:nvPr>
            <p:ph type="dt" sz="half" idx="10"/>
          </p:nvPr>
        </p:nvSpPr>
        <p:spPr/>
        <p:txBody>
          <a:bodyPr/>
          <a:lstStyle/>
          <a:p>
            <a:fld id="{26BA367B-5D27-4B64-BA27-489774D21916}" type="datetimeFigureOut">
              <a:rPr lang="es-MX" smtClean="0"/>
              <a:t>09/10/2026</a:t>
            </a:fld>
            <a:endParaRPr lang="es-MX"/>
          </a:p>
        </p:txBody>
      </p:sp>
      <p:sp>
        <p:nvSpPr>
          <p:cNvPr id="5" name="Marcador de pie de página 4">
            <a:extLst>
              <a:ext uri="{FF2B5EF4-FFF2-40B4-BE49-F238E27FC236}">
                <a16:creationId xmlns:a16="http://schemas.microsoft.com/office/drawing/2014/main" id="{4D89BAA8-2486-8A0E-DD09-9BD3039CB6D0}"/>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F963BDCD-9BB4-2A79-F79D-8AD8E005A0B7}"/>
              </a:ext>
            </a:extLst>
          </p:cNvPr>
          <p:cNvSpPr>
            <a:spLocks noGrp="1"/>
          </p:cNvSpPr>
          <p:nvPr>
            <p:ph type="sldNum" sz="quarter" idx="12"/>
          </p:nvPr>
        </p:nvSpPr>
        <p:spPr/>
        <p:txBody>
          <a:bodyPr/>
          <a:lstStyle/>
          <a:p>
            <a:fld id="{06E1BC3C-D8F2-4528-B212-80F7DBDD5604}" type="slidenum">
              <a:rPr lang="es-MX" smtClean="0"/>
              <a:t>‹Nº›</a:t>
            </a:fld>
            <a:endParaRPr lang="es-MX"/>
          </a:p>
        </p:txBody>
      </p:sp>
    </p:spTree>
    <p:extLst>
      <p:ext uri="{BB962C8B-B14F-4D97-AF65-F5344CB8AC3E}">
        <p14:creationId xmlns:p14="http://schemas.microsoft.com/office/powerpoint/2010/main" val="14434095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EC92791-FF4F-21C2-02C3-27E42DA7FEC6}"/>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p>
        </p:txBody>
      </p:sp>
      <p:sp>
        <p:nvSpPr>
          <p:cNvPr id="3" name="Marcador de texto vertical 2">
            <a:extLst>
              <a:ext uri="{FF2B5EF4-FFF2-40B4-BE49-F238E27FC236}">
                <a16:creationId xmlns:a16="http://schemas.microsoft.com/office/drawing/2014/main" id="{A688FA44-5B16-A600-8428-97C83C469E60}"/>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326A6561-8568-F6DD-C663-343A90E52630}"/>
              </a:ext>
            </a:extLst>
          </p:cNvPr>
          <p:cNvSpPr>
            <a:spLocks noGrp="1"/>
          </p:cNvSpPr>
          <p:nvPr>
            <p:ph type="dt" sz="half" idx="10"/>
          </p:nvPr>
        </p:nvSpPr>
        <p:spPr/>
        <p:txBody>
          <a:bodyPr/>
          <a:lstStyle/>
          <a:p>
            <a:fld id="{26BA367B-5D27-4B64-BA27-489774D21916}" type="datetimeFigureOut">
              <a:rPr lang="es-MX" smtClean="0"/>
              <a:t>09/10/2026</a:t>
            </a:fld>
            <a:endParaRPr lang="es-MX"/>
          </a:p>
        </p:txBody>
      </p:sp>
      <p:sp>
        <p:nvSpPr>
          <p:cNvPr id="5" name="Marcador de pie de página 4">
            <a:extLst>
              <a:ext uri="{FF2B5EF4-FFF2-40B4-BE49-F238E27FC236}">
                <a16:creationId xmlns:a16="http://schemas.microsoft.com/office/drawing/2014/main" id="{704C1861-1410-3EB7-9AE2-5270D9C2779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38B9CD89-E7F6-2D16-40F7-33E77F8D508A}"/>
              </a:ext>
            </a:extLst>
          </p:cNvPr>
          <p:cNvSpPr>
            <a:spLocks noGrp="1"/>
          </p:cNvSpPr>
          <p:nvPr>
            <p:ph type="sldNum" sz="quarter" idx="12"/>
          </p:nvPr>
        </p:nvSpPr>
        <p:spPr/>
        <p:txBody>
          <a:bodyPr/>
          <a:lstStyle/>
          <a:p>
            <a:fld id="{06E1BC3C-D8F2-4528-B212-80F7DBDD5604}" type="slidenum">
              <a:rPr lang="es-MX" smtClean="0"/>
              <a:t>‹Nº›</a:t>
            </a:fld>
            <a:endParaRPr lang="es-MX"/>
          </a:p>
        </p:txBody>
      </p:sp>
    </p:spTree>
    <p:extLst>
      <p:ext uri="{BB962C8B-B14F-4D97-AF65-F5344CB8AC3E}">
        <p14:creationId xmlns:p14="http://schemas.microsoft.com/office/powerpoint/2010/main" val="21434066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DF497635-9F2D-8FBF-3CA7-4AA718A4C3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p>
        </p:txBody>
      </p:sp>
      <p:sp>
        <p:nvSpPr>
          <p:cNvPr id="3" name="Marcador de texto 2">
            <a:extLst>
              <a:ext uri="{FF2B5EF4-FFF2-40B4-BE49-F238E27FC236}">
                <a16:creationId xmlns:a16="http://schemas.microsoft.com/office/drawing/2014/main" id="{0F632651-10E2-8A24-28A9-B1C7020736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5FC32444-95BF-6B70-E712-D797E32E6E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6BA367B-5D27-4B64-BA27-489774D21916}" type="datetimeFigureOut">
              <a:rPr lang="es-MX" smtClean="0"/>
              <a:t>09/10/2026</a:t>
            </a:fld>
            <a:endParaRPr lang="es-MX"/>
          </a:p>
        </p:txBody>
      </p:sp>
      <p:sp>
        <p:nvSpPr>
          <p:cNvPr id="5" name="Marcador de pie de página 4">
            <a:extLst>
              <a:ext uri="{FF2B5EF4-FFF2-40B4-BE49-F238E27FC236}">
                <a16:creationId xmlns:a16="http://schemas.microsoft.com/office/drawing/2014/main" id="{7CFE4686-11DA-AB8B-267C-0A116F117C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66B9F331-6B7E-D0A4-CB6F-C79AD0C460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6E1BC3C-D8F2-4528-B212-80F7DBDD5604}" type="slidenum">
              <a:rPr lang="es-MX" smtClean="0"/>
              <a:t>‹Nº›</a:t>
            </a:fld>
            <a:endParaRPr lang="es-MX"/>
          </a:p>
        </p:txBody>
      </p:sp>
    </p:spTree>
    <p:extLst>
      <p:ext uri="{BB962C8B-B14F-4D97-AF65-F5344CB8AC3E}">
        <p14:creationId xmlns:p14="http://schemas.microsoft.com/office/powerpoint/2010/main" val="33980585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elysiajs.com/" TargetMode="External"/><Relationship Id="rId2" Type="http://schemas.openxmlformats.org/officeDocument/2006/relationships/hyperlink" Target="https://bun.sh/docs" TargetMode="External"/><Relationship Id="rId1" Type="http://schemas.openxmlformats.org/officeDocument/2006/relationships/slideLayout" Target="../slideLayouts/slideLayout2.xml"/><Relationship Id="rId6" Type="http://schemas.openxmlformats.org/officeDocument/2006/relationships/hyperlink" Target="https://www.usebruno.com/" TargetMode="External"/><Relationship Id="rId5" Type="http://schemas.openxmlformats.org/officeDocument/2006/relationships/hyperlink" Target="https://github.com/porsager/postgres" TargetMode="External"/><Relationship Id="rId4" Type="http://schemas.openxmlformats.org/officeDocument/2006/relationships/hyperlink" Target="https://www.postgresql.org/doc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5155FD-4400-1949-7D48-7D368E2F35E0}"/>
              </a:ext>
            </a:extLst>
          </p:cNvPr>
          <p:cNvSpPr>
            <a:spLocks noGrp="1"/>
          </p:cNvSpPr>
          <p:nvPr>
            <p:ph type="ctrTitle"/>
          </p:nvPr>
        </p:nvSpPr>
        <p:spPr/>
        <p:txBody>
          <a:bodyPr/>
          <a:lstStyle/>
          <a:p>
            <a:r>
              <a:rPr lang="es-MX" dirty="0"/>
              <a:t>o</a:t>
            </a:r>
          </a:p>
        </p:txBody>
      </p:sp>
      <p:sp>
        <p:nvSpPr>
          <p:cNvPr id="3" name="Subtítulo 2">
            <a:extLst>
              <a:ext uri="{FF2B5EF4-FFF2-40B4-BE49-F238E27FC236}">
                <a16:creationId xmlns:a16="http://schemas.microsoft.com/office/drawing/2014/main" id="{A2895BDC-BDC9-61B3-273B-FC49B249FC8C}"/>
              </a:ext>
            </a:extLst>
          </p:cNvPr>
          <p:cNvSpPr>
            <a:spLocks noGrp="1"/>
          </p:cNvSpPr>
          <p:nvPr>
            <p:ph type="subTitle" idx="1"/>
          </p:nvPr>
        </p:nvSpPr>
        <p:spPr/>
        <p:txBody>
          <a:bodyPr/>
          <a:lstStyle/>
          <a:p>
            <a:endParaRPr lang="es-MX"/>
          </a:p>
        </p:txBody>
      </p:sp>
      <p:pic>
        <p:nvPicPr>
          <p:cNvPr id="4" name="Picture 2">
            <a:extLst>
              <a:ext uri="{FF2B5EF4-FFF2-40B4-BE49-F238E27FC236}">
                <a16:creationId xmlns:a16="http://schemas.microsoft.com/office/drawing/2014/main" id="{4544E0FF-85CF-8086-1C12-CAEF875C79B4}"/>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2">
            <a:extLst>
              <a:ext uri="{FF2B5EF4-FFF2-40B4-BE49-F238E27FC236}">
                <a16:creationId xmlns:a16="http://schemas.microsoft.com/office/drawing/2014/main" id="{11515F15-8C63-BCBA-C520-411E4EBDDC30}"/>
              </a:ext>
            </a:extLst>
          </p:cNvPr>
          <p:cNvSpPr>
            <a:spLocks noChangeArrowheads="1"/>
          </p:cNvSpPr>
          <p:nvPr/>
        </p:nvSpPr>
        <p:spPr bwMode="auto">
          <a:xfrm>
            <a:off x="776748" y="582066"/>
            <a:ext cx="10284542"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s-MX" altLang="es-MX" sz="3200" b="0" i="0" u="none" strike="noStrike" cap="none" normalizeH="0" baseline="0" dirty="0">
                <a:ln>
                  <a:noFill/>
                </a:ln>
                <a:solidFill>
                  <a:schemeClr val="tx1"/>
                </a:solidFill>
                <a:effectLst/>
                <a:latin typeface="Arial" panose="020B0604020202020204" pitchFamily="34" charset="0"/>
              </a:rPr>
            </a:br>
            <a:endParaRPr kumimoji="0" lang="es-MX" altLang="es-MX" sz="32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s-MX" altLang="es-MX" sz="20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TECNOLOGICO NACIONAL DE MEXICO</a:t>
            </a:r>
            <a:endParaRPr kumimoji="0" lang="es-MX" altLang="es-MX" sz="11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20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INSTITUTO TECNOLOGICO DE FRONTERA COMALAPA </a:t>
            </a:r>
            <a:endParaRPr kumimoji="0" lang="es-MX" altLang="es-MX" sz="11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20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CARRERA</a:t>
            </a:r>
            <a:endParaRPr kumimoji="0" lang="es-MX" altLang="es-MX" sz="11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INGENIERIA EN SISTEMAS COMPUTACIONALES</a:t>
            </a:r>
            <a:endParaRPr kumimoji="0" lang="es-MX" altLang="es-MX" sz="11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20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MATERIA</a:t>
            </a:r>
            <a:endParaRPr kumimoji="0" lang="es-MX" altLang="es-MX" sz="11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TALLER DE BASE DE DATOS</a:t>
            </a:r>
            <a:endParaRPr kumimoji="0" lang="es-MX" altLang="es-MX" sz="11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20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TRABAJO</a:t>
            </a:r>
            <a:endParaRPr kumimoji="0" lang="es-MX" altLang="es-MX" sz="11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lang="es-MX" altLang="es-MX" sz="2000" dirty="0">
                <a:latin typeface="Times New Roman" panose="02020603050405020304" pitchFamily="18" charset="0"/>
                <a:ea typeface="Calibri" panose="020F0502020204030204" pitchFamily="34" charset="0"/>
                <a:cs typeface="Times New Roman" panose="02020603050405020304" pitchFamily="18" charset="0"/>
              </a:rPr>
              <a:t>REPORTE DE PRACTICA</a:t>
            </a:r>
            <a:endParaRPr kumimoji="0" lang="es-MX" altLang="es-MX" sz="11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20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CATEDRATICO</a:t>
            </a:r>
            <a:endParaRPr kumimoji="0" lang="es-MX" altLang="es-MX" sz="11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ING.FRANCISCO JAVIER MINGO VELAZQUEZ</a:t>
            </a:r>
            <a:endParaRPr kumimoji="0" lang="es-MX" altLang="es-MX" sz="11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20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ESTUDIANTE </a:t>
            </a:r>
            <a:endParaRPr kumimoji="0" lang="es-MX" altLang="es-MX" sz="11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lang="es-MX" altLang="es-MX" sz="2000" dirty="0">
                <a:latin typeface="Times New Roman" panose="02020603050405020304" pitchFamily="18" charset="0"/>
                <a:ea typeface="Calibri" panose="020F0502020204030204" pitchFamily="34" charset="0"/>
                <a:cs typeface="Times New Roman" panose="02020603050405020304" pitchFamily="18" charset="0"/>
              </a:rPr>
              <a:t>JESUS EDUARDO VILLARREAL LOPEZ</a:t>
            </a:r>
            <a:r>
              <a:rPr kumimoji="0" lang="es-MX" altLang="es-MX"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2412600</a:t>
            </a:r>
            <a:r>
              <a:rPr lang="es-MX" altLang="es-MX" sz="2000" dirty="0">
                <a:latin typeface="Times New Roman" panose="02020603050405020304" pitchFamily="18" charset="0"/>
                <a:ea typeface="Calibri" panose="020F0502020204030204" pitchFamily="34" charset="0"/>
                <a:cs typeface="Times New Roman" panose="02020603050405020304" pitchFamily="18" charset="0"/>
              </a:rPr>
              <a:t>76</a:t>
            </a:r>
            <a:endParaRPr kumimoji="0" lang="es-MX" altLang="es-MX" sz="11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20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SEMESTRE </a:t>
            </a:r>
            <a:endParaRPr kumimoji="0" lang="es-MX" altLang="es-MX" sz="11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lang="es-MX" altLang="es-MX" sz="2000" dirty="0">
                <a:latin typeface="Times New Roman" panose="02020603050405020304" pitchFamily="18" charset="0"/>
                <a:ea typeface="Calibri" panose="020F0502020204030204" pitchFamily="34" charset="0"/>
                <a:cs typeface="Times New Roman" panose="02020603050405020304" pitchFamily="18" charset="0"/>
              </a:rPr>
              <a:t>5</a:t>
            </a:r>
            <a:endParaRPr kumimoji="0" lang="es-MX" altLang="es-MX" sz="11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20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FRONTERA COMALAPA FECHA DE ENTREGA: </a:t>
            </a:r>
            <a:r>
              <a:rPr lang="es-MX" altLang="es-MX" sz="2000" b="1" dirty="0">
                <a:latin typeface="Times New Roman" panose="02020603050405020304" pitchFamily="18" charset="0"/>
                <a:ea typeface="Calibri" panose="020F0502020204030204" pitchFamily="34" charset="0"/>
                <a:cs typeface="Times New Roman" panose="02020603050405020304" pitchFamily="18" charset="0"/>
              </a:rPr>
              <a:t>30/09/</a:t>
            </a:r>
            <a:r>
              <a:rPr kumimoji="0" lang="es-MX" altLang="es-MX"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2026</a:t>
            </a:r>
            <a:endParaRPr kumimoji="0" lang="es-MX" altLang="es-MX" sz="3200" b="0" i="0" u="none" strike="noStrike" cap="none" normalizeH="0" baseline="0" dirty="0">
              <a:ln>
                <a:noFill/>
              </a:ln>
              <a:solidFill>
                <a:schemeClr val="tx1"/>
              </a:solidFill>
              <a:effectLst/>
              <a:latin typeface="Arial" panose="020B0604020202020204" pitchFamily="34" charset="0"/>
            </a:endParaRPr>
          </a:p>
        </p:txBody>
      </p:sp>
      <p:pic>
        <p:nvPicPr>
          <p:cNvPr id="6" name="Imagen 1" descr="Logos Oficiales – Tecnológico Nacional de México">
            <a:extLst>
              <a:ext uri="{FF2B5EF4-FFF2-40B4-BE49-F238E27FC236}">
                <a16:creationId xmlns:a16="http://schemas.microsoft.com/office/drawing/2014/main" id="{3347955A-817B-95EA-3A08-8CEDC2B5B76E}"/>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911738" y="684442"/>
            <a:ext cx="2386188" cy="1052513"/>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6" descr="Secretaría de Educación Pública | Secretaría de Educación ...">
            <a:extLst>
              <a:ext uri="{FF2B5EF4-FFF2-40B4-BE49-F238E27FC236}">
                <a16:creationId xmlns:a16="http://schemas.microsoft.com/office/drawing/2014/main" id="{2C71FF88-6510-5D57-2CF8-71AF26ED78F8}"/>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4683894" y="597455"/>
            <a:ext cx="2120900" cy="1052513"/>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2" descr="TecNM | Tecnológico Nacional de México">
            <a:extLst>
              <a:ext uri="{FF2B5EF4-FFF2-40B4-BE49-F238E27FC236}">
                <a16:creationId xmlns:a16="http://schemas.microsoft.com/office/drawing/2014/main" id="{FC01F475-3377-5BBC-0FB9-EC1F7F16E437}"/>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9080449" y="597455"/>
            <a:ext cx="1980841" cy="12653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84262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61DC183-07AE-409A-AB63-34A0C77B60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0464369-70FA-42AF-948F-80664CA7BF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146816"/>
          </a:xfrm>
          <a:prstGeom prst="rect">
            <a:avLst/>
          </a:prstGeom>
          <a:solidFill>
            <a:schemeClr val="bg1">
              <a:lumMod val="8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F7EFE54-48F2-6CEC-1229-04499E40E71F}"/>
              </a:ext>
            </a:extLst>
          </p:cNvPr>
          <p:cNvSpPr>
            <a:spLocks noGrp="1"/>
          </p:cNvSpPr>
          <p:nvPr>
            <p:ph type="title"/>
          </p:nvPr>
        </p:nvSpPr>
        <p:spPr>
          <a:xfrm>
            <a:off x="581646" y="349664"/>
            <a:ext cx="5845571" cy="1638377"/>
          </a:xfrm>
        </p:spPr>
        <p:txBody>
          <a:bodyPr anchor="b">
            <a:normAutofit/>
          </a:bodyPr>
          <a:lstStyle/>
          <a:p>
            <a:pPr algn="ctr"/>
            <a:r>
              <a:rPr lang="es-MX" sz="4800" b="1" dirty="0"/>
              <a:t>INTRODUCCIÓN</a:t>
            </a:r>
            <a:endParaRPr lang="es-MX" sz="4800" dirty="0"/>
          </a:p>
        </p:txBody>
      </p:sp>
      <p:sp>
        <p:nvSpPr>
          <p:cNvPr id="3" name="Marcador de contenido 2">
            <a:extLst>
              <a:ext uri="{FF2B5EF4-FFF2-40B4-BE49-F238E27FC236}">
                <a16:creationId xmlns:a16="http://schemas.microsoft.com/office/drawing/2014/main" id="{0ED5BF9F-2823-9ACE-BA1C-15E93BE4C1FA}"/>
              </a:ext>
            </a:extLst>
          </p:cNvPr>
          <p:cNvSpPr>
            <a:spLocks noGrp="1"/>
          </p:cNvSpPr>
          <p:nvPr>
            <p:ph idx="1"/>
          </p:nvPr>
        </p:nvSpPr>
        <p:spPr>
          <a:xfrm>
            <a:off x="587988" y="2620641"/>
            <a:ext cx="5837750" cy="3023702"/>
          </a:xfrm>
        </p:spPr>
        <p:txBody>
          <a:bodyPr anchor="ctr">
            <a:normAutofit/>
          </a:bodyPr>
          <a:lstStyle/>
          <a:p>
            <a:r>
              <a:rPr lang="es-MX" sz="2000" dirty="0"/>
              <a:t>El presente reporte describe el desarrollo e implementación de una interfaz de programación de aplicaciones (API REST) para la gestión del inventario de medicamentos de una farmacia. Para garantizar un alto rendimiento, se utilizó el entorno de ejecución </a:t>
            </a:r>
            <a:r>
              <a:rPr lang="es-MX" sz="2000" b="1" dirty="0"/>
              <a:t>Bun</a:t>
            </a:r>
            <a:r>
              <a:rPr lang="es-MX" sz="2000" dirty="0"/>
              <a:t>, el </a:t>
            </a:r>
            <a:r>
              <a:rPr lang="es-MX" sz="2000" i="1" dirty="0" err="1"/>
              <a:t>framework</a:t>
            </a:r>
            <a:r>
              <a:rPr lang="es-MX" sz="2000" dirty="0"/>
              <a:t> web </a:t>
            </a:r>
            <a:r>
              <a:rPr lang="es-MX" sz="2000" b="1" dirty="0"/>
              <a:t>Elysia.js</a:t>
            </a:r>
            <a:r>
              <a:rPr lang="es-MX" sz="2000" dirty="0"/>
              <a:t> y la base de datos relacional </a:t>
            </a:r>
            <a:r>
              <a:rPr lang="es-MX" sz="2000" b="1" dirty="0"/>
              <a:t>PostgreSQL</a:t>
            </a:r>
            <a:r>
              <a:rPr lang="es-MX" sz="2000" dirty="0"/>
              <a:t>, realizando pruebas de peticiones HTTP con </a:t>
            </a:r>
            <a:r>
              <a:rPr lang="es-MX" sz="2000" b="1" dirty="0"/>
              <a:t>Bruno</a:t>
            </a:r>
            <a:r>
              <a:rPr lang="es-MX" sz="2000" dirty="0"/>
              <a:t>.</a:t>
            </a:r>
          </a:p>
          <a:p>
            <a:endParaRPr lang="es-MX" sz="2000" dirty="0"/>
          </a:p>
        </p:txBody>
      </p:sp>
      <p:sp>
        <p:nvSpPr>
          <p:cNvPr id="14" name="Rectangle 13">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669568" y="277912"/>
            <a:ext cx="524256" cy="118633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C552A98-EF7D-4D42-AB69-066B786AB5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447" y="399675"/>
            <a:ext cx="4647368" cy="580993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Diagrama de flujo">
            <a:extLst>
              <a:ext uri="{FF2B5EF4-FFF2-40B4-BE49-F238E27FC236}">
                <a16:creationId xmlns:a16="http://schemas.microsoft.com/office/drawing/2014/main" id="{BFA4C986-96B7-4317-9395-E5C1E98A66C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421373" y="1186882"/>
            <a:ext cx="4235516" cy="4235516"/>
          </a:xfrm>
          <a:prstGeom prst="rect">
            <a:avLst/>
          </a:prstGeom>
        </p:spPr>
      </p:pic>
      <p:sp>
        <p:nvSpPr>
          <p:cNvPr id="18" name="Rectangle 17">
            <a:extLst>
              <a:ext uri="{FF2B5EF4-FFF2-40B4-BE49-F238E27FC236}">
                <a16:creationId xmlns:a16="http://schemas.microsoft.com/office/drawing/2014/main" id="{A648176E-454C-437C-B0FC-9B82FCF32B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774185" y="6131892"/>
            <a:ext cx="524256"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62799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61DC183-07AE-409A-AB63-34A0C77B60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0464369-70FA-42AF-948F-80664CA7BF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146816"/>
          </a:xfrm>
          <a:prstGeom prst="rect">
            <a:avLst/>
          </a:prstGeom>
          <a:solidFill>
            <a:schemeClr val="bg1">
              <a:lumMod val="8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1485FFC-4C9A-1EC3-6791-01A2F01F48C6}"/>
              </a:ext>
            </a:extLst>
          </p:cNvPr>
          <p:cNvSpPr>
            <a:spLocks noGrp="1"/>
          </p:cNvSpPr>
          <p:nvPr>
            <p:ph type="title"/>
          </p:nvPr>
        </p:nvSpPr>
        <p:spPr>
          <a:xfrm>
            <a:off x="581646" y="349664"/>
            <a:ext cx="5845571" cy="1638377"/>
          </a:xfrm>
        </p:spPr>
        <p:txBody>
          <a:bodyPr anchor="b">
            <a:normAutofit/>
          </a:bodyPr>
          <a:lstStyle/>
          <a:p>
            <a:pPr algn="ctr"/>
            <a:r>
              <a:rPr lang="es-MX" sz="4800" dirty="0"/>
              <a:t>JUSTIFICACION</a:t>
            </a:r>
          </a:p>
        </p:txBody>
      </p:sp>
      <p:sp>
        <p:nvSpPr>
          <p:cNvPr id="3" name="Marcador de contenido 2">
            <a:extLst>
              <a:ext uri="{FF2B5EF4-FFF2-40B4-BE49-F238E27FC236}">
                <a16:creationId xmlns:a16="http://schemas.microsoft.com/office/drawing/2014/main" id="{258EF8A9-0A57-031F-BCD7-C01DBD7022CA}"/>
              </a:ext>
            </a:extLst>
          </p:cNvPr>
          <p:cNvSpPr>
            <a:spLocks noGrp="1"/>
          </p:cNvSpPr>
          <p:nvPr>
            <p:ph idx="1"/>
          </p:nvPr>
        </p:nvSpPr>
        <p:spPr>
          <a:xfrm>
            <a:off x="587988" y="2620641"/>
            <a:ext cx="5837750" cy="3023702"/>
          </a:xfrm>
        </p:spPr>
        <p:txBody>
          <a:bodyPr anchor="ctr">
            <a:normAutofit/>
          </a:bodyPr>
          <a:lstStyle/>
          <a:p>
            <a:pPr marL="0" lvl="0" indent="0">
              <a:buNone/>
            </a:pPr>
            <a:r>
              <a:rPr lang="es-MX" sz="1700"/>
              <a:t>Desarrollar e integrar una API REST funcional con operaciones CRUD conectada a una base de datos PostgreSQL mediante Bun y Elysia.js.</a:t>
            </a:r>
          </a:p>
          <a:p>
            <a:pPr lvl="1"/>
            <a:r>
              <a:rPr lang="es-MX" sz="1700"/>
              <a:t>Configurar el entorno de desarrollo en Visual Studio Code con soporte para variables de entorno (.env).</a:t>
            </a:r>
          </a:p>
          <a:p>
            <a:pPr lvl="1"/>
            <a:r>
              <a:rPr lang="es-MX" sz="1700"/>
              <a:t>Implementar la creación automática de tablas SQL en PostgreSQL al arrancar el servidor.</a:t>
            </a:r>
          </a:p>
          <a:p>
            <a:pPr lvl="1"/>
            <a:r>
              <a:rPr lang="es-MX" sz="1700"/>
              <a:t>Crear endpoints HTTP para listar, buscar, registrar, actualizar y eliminar medicamentos.</a:t>
            </a:r>
          </a:p>
          <a:p>
            <a:pPr lvl="1"/>
            <a:r>
              <a:rPr lang="es-MX" sz="1700"/>
              <a:t>Validar las respuestas del servidor mediante el cliente HTTP Bruno.</a:t>
            </a:r>
          </a:p>
          <a:p>
            <a:endParaRPr lang="es-MX" sz="1700"/>
          </a:p>
        </p:txBody>
      </p:sp>
      <p:sp>
        <p:nvSpPr>
          <p:cNvPr id="14" name="Rectangle 13">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669568" y="277912"/>
            <a:ext cx="524256" cy="118633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C552A98-EF7D-4D42-AB69-066B786AB5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447" y="399675"/>
            <a:ext cx="4647368" cy="580993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Base de datos">
            <a:extLst>
              <a:ext uri="{FF2B5EF4-FFF2-40B4-BE49-F238E27FC236}">
                <a16:creationId xmlns:a16="http://schemas.microsoft.com/office/drawing/2014/main" id="{CCEFC6CC-2327-900D-25F8-66060B184A4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421373" y="1186882"/>
            <a:ext cx="4235516" cy="4235516"/>
          </a:xfrm>
          <a:prstGeom prst="rect">
            <a:avLst/>
          </a:prstGeom>
        </p:spPr>
      </p:pic>
      <p:sp>
        <p:nvSpPr>
          <p:cNvPr id="18" name="Rectangle 17">
            <a:extLst>
              <a:ext uri="{FF2B5EF4-FFF2-40B4-BE49-F238E27FC236}">
                <a16:creationId xmlns:a16="http://schemas.microsoft.com/office/drawing/2014/main" id="{A648176E-454C-437C-B0FC-9B82FCF32B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774185" y="6131892"/>
            <a:ext cx="524256"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573911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059C643-8CE8-9600-E504-3DC56908081C}"/>
              </a:ext>
            </a:extLst>
          </p:cNvPr>
          <p:cNvSpPr>
            <a:spLocks noGrp="1"/>
          </p:cNvSpPr>
          <p:nvPr>
            <p:ph type="title"/>
          </p:nvPr>
        </p:nvSpPr>
        <p:spPr>
          <a:xfrm>
            <a:off x="1282963" y="1238080"/>
            <a:ext cx="9849751" cy="1349671"/>
          </a:xfrm>
        </p:spPr>
        <p:txBody>
          <a:bodyPr anchor="b">
            <a:normAutofit/>
          </a:bodyPr>
          <a:lstStyle/>
          <a:p>
            <a:pPr marL="228600" indent="-228600" algn="ctr">
              <a:buFont typeface="Arial" panose="020B0604020202020204" pitchFamily="34" charset="0"/>
              <a:buChar char="•"/>
            </a:pPr>
            <a:r>
              <a:rPr lang="es-MX" sz="4200" b="1" dirty="0"/>
              <a:t>TECNOLOGÍAS Y HERRAMIENTAS UTILIZADAS</a:t>
            </a:r>
            <a:endParaRPr lang="es-MX" sz="4200" dirty="0"/>
          </a:p>
        </p:txBody>
      </p:sp>
      <p:sp>
        <p:nvSpPr>
          <p:cNvPr id="3" name="Marcador de contenido 2">
            <a:extLst>
              <a:ext uri="{FF2B5EF4-FFF2-40B4-BE49-F238E27FC236}">
                <a16:creationId xmlns:a16="http://schemas.microsoft.com/office/drawing/2014/main" id="{C7F8D95C-89FD-5D11-A85F-356CEE8CEEEE}"/>
              </a:ext>
            </a:extLst>
          </p:cNvPr>
          <p:cNvSpPr>
            <a:spLocks noGrp="1"/>
          </p:cNvSpPr>
          <p:nvPr>
            <p:ph idx="1"/>
          </p:nvPr>
        </p:nvSpPr>
        <p:spPr>
          <a:xfrm>
            <a:off x="1289304" y="2902913"/>
            <a:ext cx="9849751" cy="3032168"/>
          </a:xfrm>
        </p:spPr>
        <p:txBody>
          <a:bodyPr anchor="ctr">
            <a:normAutofit/>
          </a:bodyPr>
          <a:lstStyle/>
          <a:p>
            <a:pPr lvl="0"/>
            <a:r>
              <a:rPr lang="es-MX" sz="2000" b="1" dirty="0"/>
              <a:t>Entorno de ejecución:</a:t>
            </a:r>
            <a:r>
              <a:rPr lang="es-MX" sz="2000" dirty="0"/>
              <a:t> Bun (v1.x)</a:t>
            </a:r>
          </a:p>
          <a:p>
            <a:pPr lvl="0"/>
            <a:r>
              <a:rPr lang="es-MX" sz="2000" b="1" dirty="0"/>
              <a:t>Framework:</a:t>
            </a:r>
            <a:r>
              <a:rPr lang="es-MX" sz="2000" dirty="0"/>
              <a:t> Elysia.js (@elysiajs/cors para manejo de CORS)</a:t>
            </a:r>
          </a:p>
          <a:p>
            <a:pPr lvl="0"/>
            <a:r>
              <a:rPr lang="es-MX" sz="2000" b="1" dirty="0"/>
              <a:t>Base de Datos:</a:t>
            </a:r>
            <a:r>
              <a:rPr lang="es-MX" sz="2000" dirty="0"/>
              <a:t> PostgreSQL (Administrada con </a:t>
            </a:r>
            <a:r>
              <a:rPr lang="es-MX" sz="2000" dirty="0" err="1"/>
              <a:t>pgAdmin</a:t>
            </a:r>
            <a:r>
              <a:rPr lang="es-MX" sz="2000" dirty="0"/>
              <a:t>)</a:t>
            </a:r>
          </a:p>
          <a:p>
            <a:pPr lvl="0"/>
            <a:r>
              <a:rPr lang="es-MX" sz="2000" b="1" dirty="0"/>
              <a:t>Librería DB:</a:t>
            </a:r>
            <a:r>
              <a:rPr lang="es-MX" sz="2000" dirty="0"/>
              <a:t> </a:t>
            </a:r>
            <a:r>
              <a:rPr lang="es-MX" sz="2000" dirty="0" err="1"/>
              <a:t>postgres</a:t>
            </a:r>
            <a:r>
              <a:rPr lang="es-MX" sz="2000" dirty="0"/>
              <a:t> (Driver nativo para PostgreSQL en </a:t>
            </a:r>
            <a:r>
              <a:rPr lang="es-MX" sz="2000" dirty="0" err="1"/>
              <a:t>Node</a:t>
            </a:r>
            <a:r>
              <a:rPr lang="es-MX" sz="2000" dirty="0"/>
              <a:t>/Bun)</a:t>
            </a:r>
          </a:p>
          <a:p>
            <a:pPr lvl="0"/>
            <a:r>
              <a:rPr lang="es-MX" sz="2000" b="1" dirty="0"/>
              <a:t>Cliente de Pruebas:</a:t>
            </a:r>
            <a:r>
              <a:rPr lang="es-MX" sz="2000" dirty="0"/>
              <a:t> Bruno API Client</a:t>
            </a:r>
          </a:p>
          <a:p>
            <a:pPr lvl="0"/>
            <a:r>
              <a:rPr lang="es-MX" sz="2000" b="1" dirty="0"/>
              <a:t>Editor de Código:</a:t>
            </a:r>
            <a:r>
              <a:rPr lang="es-MX" sz="2000" dirty="0"/>
              <a:t> Visual Studio Code</a:t>
            </a:r>
          </a:p>
          <a:p>
            <a:endParaRPr lang="es-MX" sz="2000" dirty="0"/>
          </a:p>
        </p:txBody>
      </p:sp>
    </p:spTree>
    <p:extLst>
      <p:ext uri="{BB962C8B-B14F-4D97-AF65-F5344CB8AC3E}">
        <p14:creationId xmlns:p14="http://schemas.microsoft.com/office/powerpoint/2010/main" val="36897141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6">
            <a:extLst>
              <a:ext uri="{FF2B5EF4-FFF2-40B4-BE49-F238E27FC236}">
                <a16:creationId xmlns:a16="http://schemas.microsoft.com/office/drawing/2014/main" id="{43C48B49-6135-48B6-AC0F-97E5D8D1F0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FCBF362-A470-90AD-9E66-F971F7F0F5C0}"/>
              </a:ext>
            </a:extLst>
          </p:cNvPr>
          <p:cNvSpPr>
            <a:spLocks noGrp="1"/>
          </p:cNvSpPr>
          <p:nvPr>
            <p:ph type="title"/>
          </p:nvPr>
        </p:nvSpPr>
        <p:spPr>
          <a:xfrm>
            <a:off x="1329766" y="1146412"/>
            <a:ext cx="9014348" cy="2402006"/>
          </a:xfrm>
        </p:spPr>
        <p:txBody>
          <a:bodyPr vert="horz" lIns="91440" tIns="45720" rIns="91440" bIns="45720" rtlCol="0" anchor="b">
            <a:normAutofit/>
          </a:bodyPr>
          <a:lstStyle/>
          <a:p>
            <a:pPr algn="ctr"/>
            <a:r>
              <a:rPr lang="en-US" sz="4800" kern="1200" dirty="0">
                <a:solidFill>
                  <a:schemeClr val="tx1"/>
                </a:solidFill>
                <a:latin typeface="+mj-lt"/>
                <a:ea typeface="+mj-ea"/>
                <a:cs typeface="+mj-cs"/>
              </a:rPr>
              <a:t>DESARROLLO E IMPLEMENTACIÓN</a:t>
            </a:r>
          </a:p>
        </p:txBody>
      </p:sp>
      <p:sp>
        <p:nvSpPr>
          <p:cNvPr id="17" name="Rectangle 8">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8" y="4374554"/>
            <a:ext cx="12192007" cy="2483444"/>
          </a:xfrm>
          <a:prstGeom prst="rect">
            <a:avLst/>
          </a:prstGeom>
          <a:gradFill>
            <a:gsLst>
              <a:gs pos="0">
                <a:schemeClr val="accent1">
                  <a:lumMod val="75000"/>
                </a:schemeClr>
              </a:gs>
              <a:gs pos="100000">
                <a:srgbClr val="000000"/>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0">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40655" y="4374554"/>
            <a:ext cx="4051344" cy="2483446"/>
          </a:xfrm>
          <a:prstGeom prst="rect">
            <a:avLst/>
          </a:prstGeom>
          <a:gradFill>
            <a:gsLst>
              <a:gs pos="4000">
                <a:schemeClr val="accent1">
                  <a:alpha val="21000"/>
                </a:schemeClr>
              </a:gs>
              <a:gs pos="83000">
                <a:schemeClr val="accent1">
                  <a:lumMod val="50000"/>
                  <a:alpha val="61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2">
            <a:extLst>
              <a:ext uri="{FF2B5EF4-FFF2-40B4-BE49-F238E27FC236}">
                <a16:creationId xmlns:a16="http://schemas.microsoft.com/office/drawing/2014/main" id="{F256AC18-FB41-4977-8B0C-F5082335A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379429"/>
            <a:ext cx="12191984" cy="1953928"/>
          </a:xfrm>
          <a:prstGeom prst="rect">
            <a:avLst/>
          </a:prstGeom>
          <a:gradFill>
            <a:gsLst>
              <a:gs pos="32000">
                <a:schemeClr val="accent1">
                  <a:lumMod val="50000"/>
                  <a:alpha val="0"/>
                </a:schemeClr>
              </a:gs>
              <a:gs pos="100000">
                <a:schemeClr val="accent1">
                  <a:alpha val="5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 y="4380927"/>
            <a:ext cx="12192000" cy="2019443"/>
          </a:xfrm>
          <a:prstGeom prst="rect">
            <a:avLst/>
          </a:prstGeom>
          <a:gradFill>
            <a:gsLst>
              <a:gs pos="32000">
                <a:schemeClr val="accent1">
                  <a:lumMod val="50000"/>
                  <a:alpha val="0"/>
                </a:schemeClr>
              </a:gs>
              <a:gs pos="100000">
                <a:srgbClr val="000000">
                  <a:alpha val="45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997743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EAF7C51-3645-B809-4CD4-3ACD73D25148}"/>
              </a:ext>
            </a:extLst>
          </p:cNvPr>
          <p:cNvSpPr>
            <a:spLocks noGrp="1"/>
          </p:cNvSpPr>
          <p:nvPr>
            <p:ph type="title"/>
          </p:nvPr>
        </p:nvSpPr>
        <p:spPr>
          <a:xfrm>
            <a:off x="793662" y="386930"/>
            <a:ext cx="10066122" cy="1298448"/>
          </a:xfrm>
        </p:spPr>
        <p:txBody>
          <a:bodyPr anchor="b">
            <a:normAutofit/>
          </a:bodyPr>
          <a:lstStyle/>
          <a:p>
            <a:r>
              <a:rPr lang="es-MX" sz="4100" b="1"/>
              <a:t>Configuración de Variables de Entorno (.env)</a:t>
            </a:r>
            <a:endParaRPr lang="es-MX" sz="4100"/>
          </a:p>
        </p:txBody>
      </p:sp>
      <p:sp>
        <p:nvSpPr>
          <p:cNvPr id="23"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34A6C8A9-3D6E-9D76-98BD-6C1529D3EF4C}"/>
              </a:ext>
            </a:extLst>
          </p:cNvPr>
          <p:cNvSpPr>
            <a:spLocks noGrp="1"/>
          </p:cNvSpPr>
          <p:nvPr>
            <p:ph idx="1"/>
          </p:nvPr>
        </p:nvSpPr>
        <p:spPr>
          <a:xfrm>
            <a:off x="793661" y="2599509"/>
            <a:ext cx="4530898" cy="3639450"/>
          </a:xfrm>
        </p:spPr>
        <p:txBody>
          <a:bodyPr anchor="ctr">
            <a:normAutofit/>
          </a:bodyPr>
          <a:lstStyle/>
          <a:p>
            <a:r>
              <a:rPr lang="es-MX" sz="2000"/>
              <a:t>Se configuró la conexión segura hacia la base de datos farmacia_db:</a:t>
            </a:r>
          </a:p>
          <a:p>
            <a:endParaRPr lang="es-MX" sz="2000"/>
          </a:p>
        </p:txBody>
      </p:sp>
      <p:pic>
        <p:nvPicPr>
          <p:cNvPr id="5" name="Imagen 4">
            <a:extLst>
              <a:ext uri="{FF2B5EF4-FFF2-40B4-BE49-F238E27FC236}">
                <a16:creationId xmlns:a16="http://schemas.microsoft.com/office/drawing/2014/main" id="{F9384CA8-1520-536F-CE5C-CC5C41931472}"/>
              </a:ext>
            </a:extLst>
          </p:cNvPr>
          <p:cNvPicPr>
            <a:picLocks noChangeAspect="1"/>
          </p:cNvPicPr>
          <p:nvPr/>
        </p:nvPicPr>
        <p:blipFill>
          <a:blip r:embed="rId2"/>
          <a:stretch>
            <a:fillRect/>
          </a:stretch>
        </p:blipFill>
        <p:spPr>
          <a:xfrm>
            <a:off x="5911532" y="2892861"/>
            <a:ext cx="5150277" cy="2897031"/>
          </a:xfrm>
          <a:prstGeom prst="rect">
            <a:avLst/>
          </a:prstGeom>
        </p:spPr>
      </p:pic>
      <p:sp>
        <p:nvSpPr>
          <p:cNvPr id="25"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39567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4D80116-4997-3DC2-FD04-97E14D313CCA}"/>
              </a:ext>
            </a:extLst>
          </p:cNvPr>
          <p:cNvSpPr>
            <a:spLocks noGrp="1"/>
          </p:cNvSpPr>
          <p:nvPr>
            <p:ph type="title"/>
          </p:nvPr>
        </p:nvSpPr>
        <p:spPr>
          <a:xfrm>
            <a:off x="793662" y="386930"/>
            <a:ext cx="10066122" cy="1298448"/>
          </a:xfrm>
        </p:spPr>
        <p:txBody>
          <a:bodyPr anchor="b">
            <a:normAutofit/>
          </a:bodyPr>
          <a:lstStyle/>
          <a:p>
            <a:r>
              <a:rPr lang="es-MX" sz="4100" b="1"/>
              <a:t>Conexión a Base de Datos y Auto-Migración (src/db.ts)</a:t>
            </a:r>
            <a:endParaRPr lang="es-MX" sz="4100"/>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579E1A5D-C4BE-E2E4-A3A2-5CE0BF34C2E2}"/>
              </a:ext>
            </a:extLst>
          </p:cNvPr>
          <p:cNvSpPr>
            <a:spLocks noGrp="1"/>
          </p:cNvSpPr>
          <p:nvPr>
            <p:ph idx="1"/>
          </p:nvPr>
        </p:nvSpPr>
        <p:spPr>
          <a:xfrm>
            <a:off x="793661" y="2599509"/>
            <a:ext cx="4530898" cy="3639450"/>
          </a:xfrm>
        </p:spPr>
        <p:txBody>
          <a:bodyPr anchor="ctr">
            <a:normAutofit/>
          </a:bodyPr>
          <a:lstStyle/>
          <a:p>
            <a:r>
              <a:rPr lang="es-MX" sz="2000"/>
              <a:t>Se implementó la función initDb() para validar la presencia de la tabla medicamentos e instanciarla de forma automática al arrancar la aplicación:</a:t>
            </a:r>
          </a:p>
          <a:p>
            <a:endParaRPr lang="es-MX" sz="2000"/>
          </a:p>
        </p:txBody>
      </p:sp>
      <p:pic>
        <p:nvPicPr>
          <p:cNvPr id="5" name="Imagen 4">
            <a:extLst>
              <a:ext uri="{FF2B5EF4-FFF2-40B4-BE49-F238E27FC236}">
                <a16:creationId xmlns:a16="http://schemas.microsoft.com/office/drawing/2014/main" id="{12ECFAC7-42B7-B8F7-F06A-ABA657B36544}"/>
              </a:ext>
            </a:extLst>
          </p:cNvPr>
          <p:cNvPicPr>
            <a:picLocks noChangeAspect="1"/>
          </p:cNvPicPr>
          <p:nvPr/>
        </p:nvPicPr>
        <p:blipFill>
          <a:blip r:embed="rId2"/>
          <a:stretch>
            <a:fillRect/>
          </a:stretch>
        </p:blipFill>
        <p:spPr>
          <a:xfrm>
            <a:off x="6565754" y="2484255"/>
            <a:ext cx="3841832" cy="3714244"/>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235792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15E5C23-8972-EE7D-E2ED-869339C96183}"/>
              </a:ext>
            </a:extLst>
          </p:cNvPr>
          <p:cNvSpPr>
            <a:spLocks noGrp="1"/>
          </p:cNvSpPr>
          <p:nvPr>
            <p:ph type="title"/>
          </p:nvPr>
        </p:nvSpPr>
        <p:spPr>
          <a:xfrm>
            <a:off x="793662" y="386930"/>
            <a:ext cx="10066122" cy="1298448"/>
          </a:xfrm>
        </p:spPr>
        <p:txBody>
          <a:bodyPr anchor="b">
            <a:normAutofit/>
          </a:bodyPr>
          <a:lstStyle/>
          <a:p>
            <a:pPr algn="ctr"/>
            <a:r>
              <a:rPr lang="es-MX" sz="4100" b="1" dirty="0"/>
              <a:t>Implementación de </a:t>
            </a:r>
            <a:r>
              <a:rPr lang="es-MX" sz="4100" b="1" dirty="0" err="1"/>
              <a:t>Endpoints</a:t>
            </a:r>
            <a:r>
              <a:rPr lang="es-MX" sz="4100" b="1" dirty="0"/>
              <a:t> CRUD (</a:t>
            </a:r>
            <a:r>
              <a:rPr lang="es-MX" sz="4100" b="1" dirty="0" err="1"/>
              <a:t>src</a:t>
            </a:r>
            <a:r>
              <a:rPr lang="es-MX" sz="4100" b="1" dirty="0"/>
              <a:t>/</a:t>
            </a:r>
            <a:r>
              <a:rPr lang="es-MX" sz="4100" b="1" dirty="0" err="1"/>
              <a:t>routes</a:t>
            </a:r>
            <a:r>
              <a:rPr lang="es-MX" sz="4100" b="1" dirty="0"/>
              <a:t>/</a:t>
            </a:r>
            <a:r>
              <a:rPr lang="es-MX" sz="4100" b="1" dirty="0" err="1"/>
              <a:t>medicamentos.ts</a:t>
            </a:r>
            <a:r>
              <a:rPr lang="es-MX" sz="4100" b="1" dirty="0"/>
              <a:t>)</a:t>
            </a:r>
            <a:endParaRPr lang="es-MX" sz="4100" dirty="0"/>
          </a:p>
        </p:txBody>
      </p:sp>
      <p:sp>
        <p:nvSpPr>
          <p:cNvPr id="14" name="Rectangle 13">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7D8D7E29-3EB0-49A3-AE5B-F7BA7794F48A}"/>
              </a:ext>
            </a:extLst>
          </p:cNvPr>
          <p:cNvSpPr>
            <a:spLocks noGrp="1"/>
          </p:cNvSpPr>
          <p:nvPr>
            <p:ph idx="1"/>
          </p:nvPr>
        </p:nvSpPr>
        <p:spPr>
          <a:xfrm>
            <a:off x="793661" y="2599509"/>
            <a:ext cx="4530898" cy="3639450"/>
          </a:xfrm>
        </p:spPr>
        <p:txBody>
          <a:bodyPr anchor="ctr">
            <a:normAutofit/>
          </a:bodyPr>
          <a:lstStyle/>
          <a:p>
            <a:r>
              <a:rPr lang="es-MX" sz="1300"/>
              <a:t>Se definieron los siguientes métodos HTTP con validación de tipos e integración de consultas preparadas:</a:t>
            </a:r>
          </a:p>
          <a:p>
            <a:pPr lvl="0"/>
            <a:r>
              <a:rPr lang="es-MX" sz="1300" b="1"/>
              <a:t>GET /api/medicamentos</a:t>
            </a:r>
            <a:r>
              <a:rPr lang="es-MX" sz="1300"/>
              <a:t>: Retorna el listado completo de medicamentos ordenados por ID.</a:t>
            </a:r>
          </a:p>
          <a:p>
            <a:pPr lvl="0"/>
            <a:r>
              <a:rPr lang="es-MX" sz="1300" b="1"/>
              <a:t>GET /api/medicamentos/:id</a:t>
            </a:r>
            <a:r>
              <a:rPr lang="es-MX" sz="1300"/>
              <a:t>: Retorna la información de un medicamento específico o un error 404 Not Found.</a:t>
            </a:r>
          </a:p>
          <a:p>
            <a:pPr lvl="0"/>
            <a:r>
              <a:rPr lang="es-MX" sz="1300" b="1"/>
              <a:t>POST /api/medicamentos</a:t>
            </a:r>
            <a:r>
              <a:rPr lang="es-MX" sz="1300"/>
              <a:t>: Inserta un nuevo producto validando la estructura del cuerpo en formato JSON (nombre, laboratorio, precio, stock, requiere_receta).</a:t>
            </a:r>
          </a:p>
          <a:p>
            <a:pPr lvl="0"/>
            <a:r>
              <a:rPr lang="es-MX" sz="1300" b="1"/>
              <a:t>PUT /api/medicamentos/:id</a:t>
            </a:r>
            <a:r>
              <a:rPr lang="es-MX" sz="1300"/>
              <a:t>: Modifica los datos de un registro existente mediante su ID.</a:t>
            </a:r>
          </a:p>
          <a:p>
            <a:pPr lvl="0"/>
            <a:r>
              <a:rPr lang="es-MX" sz="1300" b="1"/>
              <a:t>DELETE /api/medicamentos/:id</a:t>
            </a:r>
            <a:r>
              <a:rPr lang="es-MX" sz="1300"/>
              <a:t>: Elimina el registro especificado del sistema.</a:t>
            </a:r>
          </a:p>
          <a:p>
            <a:endParaRPr lang="es-MX" sz="1300"/>
          </a:p>
        </p:txBody>
      </p:sp>
      <p:pic>
        <p:nvPicPr>
          <p:cNvPr id="7" name="Imagen 6">
            <a:extLst>
              <a:ext uri="{FF2B5EF4-FFF2-40B4-BE49-F238E27FC236}">
                <a16:creationId xmlns:a16="http://schemas.microsoft.com/office/drawing/2014/main" id="{10310816-B8E3-BEB3-300C-26E8E1A7A84F}"/>
              </a:ext>
            </a:extLst>
          </p:cNvPr>
          <p:cNvPicPr>
            <a:picLocks noChangeAspect="1"/>
          </p:cNvPicPr>
          <p:nvPr/>
        </p:nvPicPr>
        <p:blipFill>
          <a:blip r:embed="rId2"/>
          <a:stretch>
            <a:fillRect/>
          </a:stretch>
        </p:blipFill>
        <p:spPr>
          <a:xfrm>
            <a:off x="5911532" y="2892861"/>
            <a:ext cx="5150277" cy="2897031"/>
          </a:xfrm>
          <a:prstGeom prst="rect">
            <a:avLst/>
          </a:prstGeom>
        </p:spPr>
      </p:pic>
      <p:sp>
        <p:nvSpPr>
          <p:cNvPr id="18" name="Rectangle 17">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788399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EABBE33-8EE4-A673-2F9C-CBC57404745F}"/>
              </a:ext>
            </a:extLst>
          </p:cNvPr>
          <p:cNvSpPr>
            <a:spLocks noGrp="1"/>
          </p:cNvSpPr>
          <p:nvPr>
            <p:ph type="title"/>
          </p:nvPr>
        </p:nvSpPr>
        <p:spPr>
          <a:xfrm>
            <a:off x="793662" y="386930"/>
            <a:ext cx="10066122" cy="1298448"/>
          </a:xfrm>
        </p:spPr>
        <p:txBody>
          <a:bodyPr anchor="b">
            <a:normAutofit/>
          </a:bodyPr>
          <a:lstStyle/>
          <a:p>
            <a:r>
              <a:rPr lang="es-MX" sz="4100" b="1"/>
              <a:t>PRUEBAS DE FUNCIONAMIENTO (CLIENTE BRUNO)</a:t>
            </a:r>
            <a:endParaRPr lang="es-MX" sz="4100"/>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B626195A-D747-0124-7D80-80E87799EFBA}"/>
              </a:ext>
            </a:extLst>
          </p:cNvPr>
          <p:cNvSpPr>
            <a:spLocks noGrp="1"/>
          </p:cNvSpPr>
          <p:nvPr>
            <p:ph idx="1"/>
          </p:nvPr>
        </p:nvSpPr>
        <p:spPr>
          <a:xfrm>
            <a:off x="793661" y="2599509"/>
            <a:ext cx="4530898" cy="3639450"/>
          </a:xfrm>
        </p:spPr>
        <p:txBody>
          <a:bodyPr anchor="ctr">
            <a:normAutofit/>
          </a:bodyPr>
          <a:lstStyle/>
          <a:p>
            <a:r>
              <a:rPr lang="es-MX" sz="2000"/>
              <a:t>Para validar la API, se ejecutó el servidor en modo de desarrollo (bun dev) y se realizaron peticiones HTTP desde </a:t>
            </a:r>
            <a:r>
              <a:rPr lang="es-MX" sz="2000" b="1"/>
              <a:t>Bruno</a:t>
            </a:r>
            <a:r>
              <a:rPr lang="es-MX" sz="2000"/>
              <a:t>:</a:t>
            </a:r>
          </a:p>
          <a:p>
            <a:pPr lvl="0"/>
            <a:r>
              <a:rPr lang="es-MX" sz="2000" b="1"/>
              <a:t>Servidor y BD Activos:</a:t>
            </a:r>
            <a:r>
              <a:rPr lang="es-MX" sz="2000"/>
              <a:t> El log de la consola confirmó la inicialización exitosa:</a:t>
            </a:r>
          </a:p>
          <a:p>
            <a:pPr lvl="0"/>
            <a:r>
              <a:rPr lang="es-MX" sz="2000"/>
              <a:t>✅ Base de datos e historia de tablas inicializadas correctamente.</a:t>
            </a:r>
          </a:p>
          <a:p>
            <a:pPr lvl="0"/>
            <a:r>
              <a:rPr lang="es-MX" sz="2000"/>
              <a:t>🦊 API de Farmacia corriendo en http://localhost:3000</a:t>
            </a:r>
          </a:p>
          <a:p>
            <a:endParaRPr lang="es-MX" sz="2000"/>
          </a:p>
        </p:txBody>
      </p:sp>
      <p:pic>
        <p:nvPicPr>
          <p:cNvPr id="5" name="Imagen 4">
            <a:extLst>
              <a:ext uri="{FF2B5EF4-FFF2-40B4-BE49-F238E27FC236}">
                <a16:creationId xmlns:a16="http://schemas.microsoft.com/office/drawing/2014/main" id="{065024D7-CEC8-8C87-D9EC-21D6AC136679}"/>
              </a:ext>
            </a:extLst>
          </p:cNvPr>
          <p:cNvPicPr>
            <a:picLocks noChangeAspect="1"/>
          </p:cNvPicPr>
          <p:nvPr/>
        </p:nvPicPr>
        <p:blipFill>
          <a:blip r:embed="rId2"/>
          <a:stretch>
            <a:fillRect/>
          </a:stretch>
        </p:blipFill>
        <p:spPr>
          <a:xfrm>
            <a:off x="5911532" y="2879986"/>
            <a:ext cx="5150277" cy="2922782"/>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115237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2BC8C6C-8D01-7C10-EBEC-9742085D17F2}"/>
              </a:ext>
            </a:extLst>
          </p:cNvPr>
          <p:cNvSpPr>
            <a:spLocks noGrp="1"/>
          </p:cNvSpPr>
          <p:nvPr>
            <p:ph type="title"/>
          </p:nvPr>
        </p:nvSpPr>
        <p:spPr>
          <a:xfrm>
            <a:off x="793662" y="386930"/>
            <a:ext cx="10066122" cy="1298448"/>
          </a:xfrm>
        </p:spPr>
        <p:txBody>
          <a:bodyPr anchor="b">
            <a:normAutofit/>
          </a:bodyPr>
          <a:lstStyle/>
          <a:p>
            <a:r>
              <a:rPr lang="es-MX" b="1" dirty="0"/>
              <a:t>Petición POST (Registrar Medicamento):</a:t>
            </a:r>
            <a:endParaRPr lang="es-MX" dirty="0"/>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3C99FDF7-A7B2-2BE5-7EBE-FC2E18B0069D}"/>
              </a:ext>
            </a:extLst>
          </p:cNvPr>
          <p:cNvSpPr>
            <a:spLocks noGrp="1"/>
          </p:cNvSpPr>
          <p:nvPr>
            <p:ph idx="1"/>
          </p:nvPr>
        </p:nvSpPr>
        <p:spPr>
          <a:xfrm>
            <a:off x="793661" y="2599509"/>
            <a:ext cx="4530898" cy="3639450"/>
          </a:xfrm>
        </p:spPr>
        <p:txBody>
          <a:bodyPr anchor="ctr">
            <a:normAutofit/>
          </a:bodyPr>
          <a:lstStyle/>
          <a:p>
            <a:pPr lvl="0"/>
            <a:r>
              <a:rPr lang="es-MX" sz="2000" b="1"/>
              <a:t>URL:</a:t>
            </a:r>
            <a:r>
              <a:rPr lang="es-MX" sz="2000"/>
              <a:t> http://localhost:3000/api/medicamentos</a:t>
            </a:r>
          </a:p>
          <a:p>
            <a:pPr lvl="0"/>
            <a:r>
              <a:rPr lang="es-MX" sz="2000" b="1"/>
              <a:t>Método:</a:t>
            </a:r>
            <a:r>
              <a:rPr lang="es-MX" sz="2000"/>
              <a:t> POST</a:t>
            </a:r>
          </a:p>
          <a:p>
            <a:pPr lvl="0"/>
            <a:r>
              <a:rPr lang="es-MX" sz="2000" b="1"/>
              <a:t>Payload (JSON):</a:t>
            </a:r>
            <a:endParaRPr lang="es-MX" sz="2000"/>
          </a:p>
          <a:p>
            <a:endParaRPr lang="es-MX" sz="2000"/>
          </a:p>
        </p:txBody>
      </p:sp>
      <p:pic>
        <p:nvPicPr>
          <p:cNvPr id="5" name="Imagen 4">
            <a:extLst>
              <a:ext uri="{FF2B5EF4-FFF2-40B4-BE49-F238E27FC236}">
                <a16:creationId xmlns:a16="http://schemas.microsoft.com/office/drawing/2014/main" id="{5CAD26CC-74F3-7685-E022-B5A5BC730AEC}"/>
              </a:ext>
            </a:extLst>
          </p:cNvPr>
          <p:cNvPicPr>
            <a:picLocks noChangeAspect="1"/>
          </p:cNvPicPr>
          <p:nvPr/>
        </p:nvPicPr>
        <p:blipFill>
          <a:blip r:embed="rId2"/>
          <a:stretch>
            <a:fillRect/>
          </a:stretch>
        </p:blipFill>
        <p:spPr>
          <a:xfrm>
            <a:off x="5911532" y="2976554"/>
            <a:ext cx="5150277" cy="2729646"/>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051486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8EF5E5F-FF03-C2D1-BF09-BD82E0892347}"/>
              </a:ext>
            </a:extLst>
          </p:cNvPr>
          <p:cNvSpPr>
            <a:spLocks noGrp="1"/>
          </p:cNvSpPr>
          <p:nvPr>
            <p:ph type="title"/>
          </p:nvPr>
        </p:nvSpPr>
        <p:spPr>
          <a:xfrm>
            <a:off x="1043631" y="809898"/>
            <a:ext cx="9942716" cy="1554480"/>
          </a:xfrm>
        </p:spPr>
        <p:txBody>
          <a:bodyPr anchor="ctr">
            <a:normAutofit/>
          </a:bodyPr>
          <a:lstStyle/>
          <a:p>
            <a:pPr algn="ctr"/>
            <a:r>
              <a:rPr lang="es-MX" sz="4800" b="1" dirty="0"/>
              <a:t>CONCLUSION</a:t>
            </a:r>
            <a:endParaRPr lang="es-MX" sz="4800" dirty="0"/>
          </a:p>
        </p:txBody>
      </p:sp>
      <p:sp>
        <p:nvSpPr>
          <p:cNvPr id="3" name="Marcador de contenido 2">
            <a:extLst>
              <a:ext uri="{FF2B5EF4-FFF2-40B4-BE49-F238E27FC236}">
                <a16:creationId xmlns:a16="http://schemas.microsoft.com/office/drawing/2014/main" id="{F3A24E40-4353-D56B-F6A2-9709D0F12570}"/>
              </a:ext>
            </a:extLst>
          </p:cNvPr>
          <p:cNvSpPr>
            <a:spLocks noGrp="1"/>
          </p:cNvSpPr>
          <p:nvPr>
            <p:ph idx="1"/>
          </p:nvPr>
        </p:nvSpPr>
        <p:spPr>
          <a:xfrm>
            <a:off x="1045028" y="3017522"/>
            <a:ext cx="9941319" cy="3124658"/>
          </a:xfrm>
        </p:spPr>
        <p:txBody>
          <a:bodyPr anchor="ctr">
            <a:normAutofit/>
          </a:bodyPr>
          <a:lstStyle/>
          <a:p>
            <a:pPr lvl="0"/>
            <a:r>
              <a:rPr lang="es-MX" sz="2400" b="1"/>
              <a:t>Eficiencia en Ejecución:</a:t>
            </a:r>
            <a:r>
              <a:rPr lang="es-MX" sz="2400"/>
              <a:t> El uso de </a:t>
            </a:r>
            <a:r>
              <a:rPr lang="es-MX" sz="2400" b="1"/>
              <a:t>Bun</a:t>
            </a:r>
            <a:r>
              <a:rPr lang="es-MX" sz="2400"/>
              <a:t> permitió tiempos de arranque prácticamente instantáneos y un manejo ágil de librerías.</a:t>
            </a:r>
          </a:p>
          <a:p>
            <a:pPr lvl="0"/>
            <a:r>
              <a:rPr lang="es-MX" sz="2400" b="1"/>
              <a:t>Mantenibilidad:</a:t>
            </a:r>
            <a:r>
              <a:rPr lang="es-MX" sz="2400"/>
              <a:t> La división en módulos (src/routes, src/db.ts) facilitó la legibilidad del código y la resolución de problemas durante la organización de directorios.</a:t>
            </a:r>
          </a:p>
          <a:p>
            <a:pPr lvl="0"/>
            <a:r>
              <a:rPr lang="es-MX" sz="2400" b="1"/>
              <a:t>Automatización:</a:t>
            </a:r>
            <a:r>
              <a:rPr lang="es-MX" sz="2400"/>
              <a:t> Incorporar la creación de tablas dentro de la lógica del servidor aseguró que el entorno estuviera listo sin depender de scripts manuales de migración en pgAdmin.</a:t>
            </a:r>
          </a:p>
          <a:p>
            <a:endParaRPr lang="es-MX" sz="24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69058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73CC57F-7544-BC4F-F011-87B1D6B05387}"/>
              </a:ext>
            </a:extLst>
          </p:cNvPr>
          <p:cNvSpPr>
            <a:spLocks noGrp="1"/>
          </p:cNvSpPr>
          <p:nvPr>
            <p:ph type="title"/>
          </p:nvPr>
        </p:nvSpPr>
        <p:spPr>
          <a:xfrm>
            <a:off x="1043631" y="809898"/>
            <a:ext cx="9942716" cy="1554480"/>
          </a:xfrm>
        </p:spPr>
        <p:txBody>
          <a:bodyPr anchor="ctr">
            <a:normAutofit/>
          </a:bodyPr>
          <a:lstStyle/>
          <a:p>
            <a:pPr algn="ctr"/>
            <a:r>
              <a:rPr lang="es-MX" sz="4800" dirty="0"/>
              <a:t>FUENTES DE INFORMACION</a:t>
            </a:r>
          </a:p>
        </p:txBody>
      </p:sp>
      <p:sp>
        <p:nvSpPr>
          <p:cNvPr id="3" name="Marcador de contenido 2">
            <a:extLst>
              <a:ext uri="{FF2B5EF4-FFF2-40B4-BE49-F238E27FC236}">
                <a16:creationId xmlns:a16="http://schemas.microsoft.com/office/drawing/2014/main" id="{E8749130-8457-1B7E-A376-B76BD6C599A1}"/>
              </a:ext>
            </a:extLst>
          </p:cNvPr>
          <p:cNvSpPr>
            <a:spLocks noGrp="1"/>
          </p:cNvSpPr>
          <p:nvPr>
            <p:ph idx="1"/>
          </p:nvPr>
        </p:nvSpPr>
        <p:spPr>
          <a:xfrm>
            <a:off x="1045028" y="3017522"/>
            <a:ext cx="9941319" cy="3124658"/>
          </a:xfrm>
        </p:spPr>
        <p:txBody>
          <a:bodyPr anchor="ctr">
            <a:normAutofit/>
          </a:bodyPr>
          <a:lstStyle/>
          <a:p>
            <a:pPr lvl="0"/>
            <a:r>
              <a:rPr lang="es-MX" sz="800" b="1" dirty="0"/>
              <a:t>Bun </a:t>
            </a:r>
            <a:r>
              <a:rPr lang="es-MX" sz="800" b="1" dirty="0" err="1"/>
              <a:t>Documentation</a:t>
            </a:r>
            <a:endParaRPr lang="es-MX" sz="800" dirty="0"/>
          </a:p>
          <a:p>
            <a:pPr lvl="1"/>
            <a:r>
              <a:rPr lang="es-MX" sz="800" dirty="0"/>
              <a:t>Guía oficial de instalación, configuración del entorno de ejecución y ejecución de scripts (</a:t>
            </a:r>
            <a:r>
              <a:rPr lang="es-MX" sz="800" dirty="0" err="1"/>
              <a:t>bun</a:t>
            </a:r>
            <a:r>
              <a:rPr lang="es-MX" sz="800" dirty="0"/>
              <a:t> </a:t>
            </a:r>
            <a:r>
              <a:rPr lang="es-MX" sz="800" dirty="0" err="1"/>
              <a:t>dev</a:t>
            </a:r>
            <a:r>
              <a:rPr lang="es-MX" sz="800" dirty="0"/>
              <a:t>, </a:t>
            </a:r>
            <a:r>
              <a:rPr lang="es-MX" sz="800" dirty="0" err="1"/>
              <a:t>bun</a:t>
            </a:r>
            <a:r>
              <a:rPr lang="es-MX" sz="800" dirty="0"/>
              <a:t> </a:t>
            </a:r>
            <a:r>
              <a:rPr lang="es-MX" sz="800" dirty="0" err="1"/>
              <a:t>add</a:t>
            </a:r>
            <a:r>
              <a:rPr lang="es-MX" sz="800" dirty="0"/>
              <a:t>).</a:t>
            </a:r>
          </a:p>
          <a:p>
            <a:pPr lvl="1"/>
            <a:r>
              <a:rPr lang="es-MX" sz="800" dirty="0"/>
              <a:t>Disponible en: </a:t>
            </a:r>
            <a:r>
              <a:rPr lang="es-MX" sz="800" dirty="0">
                <a:hlinkClick r:id="rId2"/>
              </a:rPr>
              <a:t>bun.sh/</a:t>
            </a:r>
            <a:r>
              <a:rPr lang="es-MX" sz="800" dirty="0" err="1">
                <a:hlinkClick r:id="rId2"/>
              </a:rPr>
              <a:t>docs</a:t>
            </a:r>
            <a:endParaRPr lang="es-MX" sz="800" dirty="0"/>
          </a:p>
          <a:p>
            <a:pPr lvl="0"/>
            <a:r>
              <a:rPr lang="es-MX" sz="800" b="1" dirty="0"/>
              <a:t>Elysia.js </a:t>
            </a:r>
            <a:r>
              <a:rPr lang="es-MX" sz="800" b="1" dirty="0" err="1"/>
              <a:t>Documentation</a:t>
            </a:r>
            <a:endParaRPr lang="es-MX" sz="800" dirty="0"/>
          </a:p>
          <a:p>
            <a:pPr lvl="1"/>
            <a:r>
              <a:rPr lang="es-MX" sz="800" dirty="0"/>
              <a:t>Guía de arquitectura del </a:t>
            </a:r>
            <a:r>
              <a:rPr lang="es-MX" sz="800" i="1" dirty="0" err="1"/>
              <a:t>framework</a:t>
            </a:r>
            <a:r>
              <a:rPr lang="es-MX" sz="800" dirty="0"/>
              <a:t>, manejo de rutas, middleware de CORS (@elysiajs/cors) y validación de esquemas con </a:t>
            </a:r>
            <a:r>
              <a:rPr lang="es-MX" sz="800" dirty="0" err="1"/>
              <a:t>TypeBox</a:t>
            </a:r>
            <a:r>
              <a:rPr lang="es-MX" sz="800" dirty="0"/>
              <a:t> (t).</a:t>
            </a:r>
          </a:p>
          <a:p>
            <a:pPr lvl="1"/>
            <a:r>
              <a:rPr lang="es-MX" sz="800" dirty="0"/>
              <a:t>Disponible en: </a:t>
            </a:r>
            <a:r>
              <a:rPr lang="es-MX" sz="800" dirty="0">
                <a:hlinkClick r:id="rId3"/>
              </a:rPr>
              <a:t>elysiajs.com</a:t>
            </a:r>
            <a:endParaRPr lang="es-MX" sz="800" dirty="0"/>
          </a:p>
          <a:p>
            <a:pPr lvl="0"/>
            <a:r>
              <a:rPr lang="es-MX" sz="800" b="1" dirty="0"/>
              <a:t>PostgreSQL </a:t>
            </a:r>
            <a:r>
              <a:rPr lang="es-MX" sz="800" b="1" dirty="0" err="1"/>
              <a:t>Documentation</a:t>
            </a:r>
            <a:endParaRPr lang="es-MX" sz="800" dirty="0"/>
          </a:p>
          <a:p>
            <a:pPr lvl="1"/>
            <a:r>
              <a:rPr lang="es-MX" sz="800" dirty="0"/>
              <a:t>Referencia de sintaxis SQL para DDL/DML, tipos de datos (SERIAL, DECIMAL, VARCHAR, TIMESTAMP) y manejo de tablas relacionales.</a:t>
            </a:r>
          </a:p>
          <a:p>
            <a:pPr lvl="1"/>
            <a:r>
              <a:rPr lang="es-MX" sz="800" dirty="0"/>
              <a:t>Disponible en: </a:t>
            </a:r>
            <a:r>
              <a:rPr lang="es-MX" sz="800" dirty="0">
                <a:hlinkClick r:id="rId4"/>
              </a:rPr>
              <a:t>postgresql.org/</a:t>
            </a:r>
            <a:r>
              <a:rPr lang="es-MX" sz="800" dirty="0" err="1">
                <a:hlinkClick r:id="rId4"/>
              </a:rPr>
              <a:t>docs</a:t>
            </a:r>
            <a:endParaRPr lang="es-MX" sz="800" dirty="0"/>
          </a:p>
          <a:p>
            <a:pPr lvl="0"/>
            <a:r>
              <a:rPr lang="es-MX" sz="800" b="1" dirty="0"/>
              <a:t>postgres.js (</a:t>
            </a:r>
            <a:r>
              <a:rPr lang="es-MX" sz="800" b="1" dirty="0" err="1"/>
              <a:t>porsager</a:t>
            </a:r>
            <a:r>
              <a:rPr lang="es-MX" sz="800" b="1" dirty="0"/>
              <a:t>/</a:t>
            </a:r>
            <a:r>
              <a:rPr lang="es-MX" sz="800" b="1" dirty="0" err="1"/>
              <a:t>postgres</a:t>
            </a:r>
            <a:r>
              <a:rPr lang="es-MX" sz="800" b="1" dirty="0"/>
              <a:t>)</a:t>
            </a:r>
            <a:endParaRPr lang="es-MX" sz="800" dirty="0"/>
          </a:p>
          <a:p>
            <a:pPr lvl="1"/>
            <a:r>
              <a:rPr lang="es-MX" sz="800" dirty="0"/>
              <a:t>Documentación del cliente/driver de PostgreSQL de alto rendimiento para Node.js y Bun, utilizado para la ejecución de </a:t>
            </a:r>
            <a:r>
              <a:rPr lang="es-MX" sz="800" i="1" dirty="0" err="1"/>
              <a:t>tagged</a:t>
            </a:r>
            <a:r>
              <a:rPr lang="es-MX" sz="800" i="1" dirty="0"/>
              <a:t> template </a:t>
            </a:r>
            <a:r>
              <a:rPr lang="es-MX" sz="800" i="1" dirty="0" err="1"/>
              <a:t>literals</a:t>
            </a:r>
            <a:r>
              <a:rPr lang="es-MX" sz="800" dirty="0"/>
              <a:t> e instancias de conexión en </a:t>
            </a:r>
            <a:r>
              <a:rPr lang="es-MX" sz="800" dirty="0" err="1"/>
              <a:t>src</a:t>
            </a:r>
            <a:r>
              <a:rPr lang="es-MX" sz="800" dirty="0"/>
              <a:t>/</a:t>
            </a:r>
            <a:r>
              <a:rPr lang="es-MX" sz="800" dirty="0" err="1"/>
              <a:t>db.ts</a:t>
            </a:r>
            <a:r>
              <a:rPr lang="es-MX" sz="800" dirty="0"/>
              <a:t>.</a:t>
            </a:r>
          </a:p>
          <a:p>
            <a:pPr lvl="1"/>
            <a:r>
              <a:rPr lang="es-MX" sz="800" dirty="0"/>
              <a:t>Disponible en: </a:t>
            </a:r>
            <a:r>
              <a:rPr lang="es-MX" sz="800" dirty="0">
                <a:hlinkClick r:id="rId5"/>
              </a:rPr>
              <a:t>github.com/</a:t>
            </a:r>
            <a:r>
              <a:rPr lang="es-MX" sz="800" dirty="0" err="1">
                <a:hlinkClick r:id="rId5"/>
              </a:rPr>
              <a:t>porsager</a:t>
            </a:r>
            <a:r>
              <a:rPr lang="es-MX" sz="800" dirty="0">
                <a:hlinkClick r:id="rId5"/>
              </a:rPr>
              <a:t>/</a:t>
            </a:r>
            <a:r>
              <a:rPr lang="es-MX" sz="800" dirty="0" err="1">
                <a:hlinkClick r:id="rId5"/>
              </a:rPr>
              <a:t>postgres</a:t>
            </a:r>
            <a:endParaRPr lang="es-MX" sz="800" dirty="0"/>
          </a:p>
          <a:p>
            <a:pPr lvl="0"/>
            <a:r>
              <a:rPr lang="es-MX" sz="800" b="1" dirty="0"/>
              <a:t>Bruno API Client </a:t>
            </a:r>
            <a:r>
              <a:rPr lang="es-MX" sz="800" b="1" dirty="0" err="1"/>
              <a:t>Documentation</a:t>
            </a:r>
            <a:endParaRPr lang="es-MX" sz="800" dirty="0"/>
          </a:p>
          <a:p>
            <a:pPr lvl="1"/>
            <a:r>
              <a:rPr lang="es-MX" sz="800" dirty="0"/>
              <a:t>Manual de usuario para la construcción y prueba de colecciones de peticiones HTTP (GET, POST, PUT, DELETE) e inspección de respuestas JSON.</a:t>
            </a:r>
          </a:p>
          <a:p>
            <a:pPr lvl="1"/>
            <a:r>
              <a:rPr lang="es-MX" sz="800" dirty="0"/>
              <a:t>Disponible en: </a:t>
            </a:r>
            <a:r>
              <a:rPr lang="es-MX" sz="800" dirty="0">
                <a:hlinkClick r:id="rId6"/>
              </a:rPr>
              <a:t>usebruno.com/</a:t>
            </a:r>
            <a:r>
              <a:rPr lang="es-MX" sz="800" dirty="0" err="1">
                <a:hlinkClick r:id="rId6"/>
              </a:rPr>
              <a:t>docs</a:t>
            </a:r>
            <a:endParaRPr lang="es-MX" sz="800" dirty="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862036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841</Words>
  <Application>Microsoft Office PowerPoint</Application>
  <PresentationFormat>Panorámica</PresentationFormat>
  <Paragraphs>73</Paragraphs>
  <Slides>12</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12</vt:i4>
      </vt:variant>
    </vt:vector>
  </HeadingPairs>
  <TitlesOfParts>
    <vt:vector size="17" baseType="lpstr">
      <vt:lpstr>Aptos</vt:lpstr>
      <vt:lpstr>Aptos Display</vt:lpstr>
      <vt:lpstr>Arial</vt:lpstr>
      <vt:lpstr>Times New Roman</vt:lpstr>
      <vt:lpstr>Tema de Office</vt:lpstr>
      <vt:lpstr>o</vt:lpstr>
      <vt:lpstr>INTRODUCCIÓN</vt:lpstr>
      <vt:lpstr>JUSTIFICACION</vt:lpstr>
      <vt:lpstr>TECNOLOGÍAS Y HERRAMIENTAS UTILIZADAS</vt:lpstr>
      <vt:lpstr>DESARROLLO E IMPLEMENTACIÓN</vt:lpstr>
      <vt:lpstr>Configuración de Variables de Entorno (.env)</vt:lpstr>
      <vt:lpstr>Conexión a Base de Datos y Auto-Migración (src/db.ts)</vt:lpstr>
      <vt:lpstr>Implementación de Endpoints CRUD (src/routes/medicamentos.ts)</vt:lpstr>
      <vt:lpstr>PRUEBAS DE FUNCIONAMIENTO (CLIENTE BRUNO)</vt:lpstr>
      <vt:lpstr>Petición POST (Registrar Medicamento):</vt:lpstr>
      <vt:lpstr>CONCLUSION</vt:lpstr>
      <vt:lpstr>FUENTES DE INFORMACION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Jesus Eduardo Villarreal Lopez</dc:creator>
  <cp:lastModifiedBy>Jesus Eduardo Villarreal Lopez</cp:lastModifiedBy>
  <cp:revision>1</cp:revision>
  <dcterms:created xsi:type="dcterms:W3CDTF">2026-10-09T17:34:03Z</dcterms:created>
  <dcterms:modified xsi:type="dcterms:W3CDTF">2026-10-09T17:50:56Z</dcterms:modified>
</cp:coreProperties>
</file>