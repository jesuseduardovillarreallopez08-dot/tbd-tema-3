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66F81-176F-88A4-268F-AB450A8AC7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10B1AB-EC33-7314-E80D-168A9D130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EFB150-C257-0087-83F4-D16DEB9A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6D94-E4FA-49D8-8724-6C81A4ED556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4CA464-EEFE-B593-638D-750C71104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CC1EBB-0116-4A17-EB36-4D98E2447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19AC0-E37C-404A-A224-E81501A1FF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0261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B4D307-AFE3-16B9-EF25-03ECCC3E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5E00C5-7B41-DCE2-C4AB-F7AC6EF6B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3F41BF-E007-73E7-E462-1BE668E90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6D94-E4FA-49D8-8724-6C81A4ED556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C519FE-87BA-8C9B-E7F9-FC8394F9F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633887-84A4-16D5-6476-B19B70DD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19AC0-E37C-404A-A224-E81501A1FF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038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18B71-E160-47FE-570F-3BEE3A38C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50C920-674C-E863-E885-088ECC096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9AF0CB-6B13-6D0F-6B74-F7C5F5554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6D94-E4FA-49D8-8724-6C81A4ED556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AFADE1-6D3A-0E88-D192-5252DEF5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A6F40C-ADF8-E76A-1B84-42B937F0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19AC0-E37C-404A-A224-E81501A1FF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7293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4A728-131E-7D88-541D-1E4E73686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AA8FDD-3B9B-C2D9-F366-7F32896FD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A2FCD0-EB4D-A361-BFA3-8D953AC08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364A27-7139-6EDC-BA19-4CB0AC85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6D94-E4FA-49D8-8724-6C81A4ED556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90B158-64A8-C62B-0671-0DB1A3E78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96671A-DC31-5B42-8654-DCB7A0D33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19AC0-E37C-404A-A224-E81501A1FF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2090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B8909-4F15-1656-E6DF-3C4D51577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A3B857-726D-BD06-F246-31F9768D4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2FF0EEB-F542-F57A-3075-6E0DB8C32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0C61CD5-4749-830C-090C-16D266D59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8C49A6D-C610-44C5-5503-02C834983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9CB036-354F-AD2A-2235-5759D98E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6D94-E4FA-49D8-8724-6C81A4ED556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EAF791A-0279-E478-2787-40240EA06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A008892-F272-3D33-0556-2EF5DAE24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19AC0-E37C-404A-A224-E81501A1FF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323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7409B-202E-B62E-11C8-46BC267D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23824FE-9844-5837-521A-3E32CF37F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6D94-E4FA-49D8-8724-6C81A4ED556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1B67DB8-4991-788A-5C2B-ACE0BC348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7A6439-6A65-37AF-67A2-1705BCAE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19AC0-E37C-404A-A224-E81501A1FF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4966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B8C4372-E685-A3AE-6B9B-4D0B97C7A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6D94-E4FA-49D8-8724-6C81A4ED556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8BD0FE-0AB0-31AB-2833-9DC10AAEA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F38BD9-121C-CFD1-DE3B-853533FB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19AC0-E37C-404A-A224-E81501A1FF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7351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D0C9EF-8C3B-20B0-4AF8-4CD5B89D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3AC4AE-C385-188A-B9AA-1AE7CEF7E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C4B9BD-3C99-2AB4-9774-5A8B3D0A4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2581D4-7525-4C46-2542-405521FEE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6D94-E4FA-49D8-8724-6C81A4ED556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B5DFA9-469E-9067-EE93-585C3A11D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6A145D-62D8-4C19-8B46-0CE48110B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19AC0-E37C-404A-A224-E81501A1FF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4936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BCC06-859E-24E0-44B2-F8753B2C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420C908-885E-E330-9C5B-159570C4846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7E5F092-0413-CA15-764D-7B8C04C22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E54CA0-F975-8588-1B80-F7DE0C242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6D94-E4FA-49D8-8724-6C81A4ED556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76767C-1AE8-0E51-2CF5-385C2117E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9F4109-4B08-D8E5-65CB-6C331540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19AC0-E37C-404A-A224-E81501A1FF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86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A6C7FD-F02D-4A4C-3BF0-5D5763AA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4BC3F7-837D-6009-3505-62159124E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094116-2B76-7F44-322D-5A298632A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6D94-E4FA-49D8-8724-6C81A4ED556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6B0684-91F8-2D28-BAEC-2105685AB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7B29F8-58BE-278C-B83A-AAF9AF037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19AC0-E37C-404A-A224-E81501A1FF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146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92A5DB-1BDF-77BF-7018-28AEBFEBEC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0597229-DF43-B07A-F832-3CBCE77E7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58AA29-434A-EE6F-EC07-B7A8CB8BE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B6D94-E4FA-49D8-8724-6C81A4ED556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E6290-B9E6-4C40-35E4-92E5B9452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CA02AC-C95A-9192-0D2D-80ECC977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19AC0-E37C-404A-A224-E81501A1FF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3810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84E3005-3972-98FD-CCE9-68FECEDCC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938AD5-F726-4C7D-548B-B2E64C146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46D82D-5B88-B83F-362D-D9D0CF7890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5B6D94-E4FA-49D8-8724-6C81A4ED5568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82492B-3E16-AF2F-2A2D-BFE92CB6B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CCDB3B-E611-0B46-C660-F58CA9893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819AC0-E37C-404A-A224-E81501A1FFC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7654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qlalchemy.org/" TargetMode="External"/><Relationship Id="rId7" Type="http://schemas.openxmlformats.org/officeDocument/2006/relationships/hyperlink" Target="https://www.usebruno.com/" TargetMode="External"/><Relationship Id="rId2" Type="http://schemas.openxmlformats.org/officeDocument/2006/relationships/hyperlink" Target="https://fastapi.tiangolo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https://www.uvicorn.org/" TargetMode="External"/><Relationship Id="rId5" Type="http://schemas.openxmlformats.org/officeDocument/2006/relationships/hyperlink" Target="https://www.postgresql.org/" TargetMode="External"/><Relationship Id="rId4" Type="http://schemas.openxmlformats.org/officeDocument/2006/relationships/hyperlink" Target="https://www.google.com/search?q=https://docs.pydantic.de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155FD-4400-1949-7D48-7D368E2F35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895BDC-BDC9-61B3-273B-FC49B249FC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544E0FF-85CF-8086-1C12-CAEF875C7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2">
            <a:extLst>
              <a:ext uri="{FF2B5EF4-FFF2-40B4-BE49-F238E27FC236}">
                <a16:creationId xmlns:a16="http://schemas.microsoft.com/office/drawing/2014/main" id="{11515F15-8C63-BCBA-C520-411E4EBDD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48" y="582066"/>
            <a:ext cx="10284542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MX" altLang="es-MX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TECNOLOGICO NACIONAL DE MEXICO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INSTITUTO TECNOLOGICO DE FRONTERA COMALAPA 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CARRERA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INGENIERIA EN SISTEMAS COMPUTACIONALES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MATERIA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TALLER DE BASE DE DATOS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TRABAJO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REPORTE DE PRACTICA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CATEDRATICO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ING.FRANCISCO JAVIER MINGO VELAZQUEZ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ESTUDIANTE 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JESUS EDUARDO VILLARREAL LOPEZ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2412600</a:t>
            </a: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76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SEMESTRE 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FRONTERA COMALAPA FECHA DE ENTREGA: 23</a:t>
            </a:r>
            <a:r>
              <a:rPr lang="es-MX" altLang="es-MX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/09/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2026</a:t>
            </a:r>
            <a:endParaRPr kumimoji="0" lang="es-MX" altLang="es-MX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1" descr="Logos Oficiales – Tecnológico Nacional de México">
            <a:extLst>
              <a:ext uri="{FF2B5EF4-FFF2-40B4-BE49-F238E27FC236}">
                <a16:creationId xmlns:a16="http://schemas.microsoft.com/office/drawing/2014/main" id="{3347955A-817B-95EA-3A08-8CEDC2B5B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1738" y="684442"/>
            <a:ext cx="2386188" cy="105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 descr="Secretaría de Educación Pública | Secretaría de Educación ...">
            <a:extLst>
              <a:ext uri="{FF2B5EF4-FFF2-40B4-BE49-F238E27FC236}">
                <a16:creationId xmlns:a16="http://schemas.microsoft.com/office/drawing/2014/main" id="{2C71FF88-6510-5D57-2CF8-71AF26ED7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83894" y="597455"/>
            <a:ext cx="2120900" cy="105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2" descr="TecNM | Tecnológico Nacional de México">
            <a:extLst>
              <a:ext uri="{FF2B5EF4-FFF2-40B4-BE49-F238E27FC236}">
                <a16:creationId xmlns:a16="http://schemas.microsoft.com/office/drawing/2014/main" id="{FC01F475-3377-5BBC-0FB9-EC1F7F16E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0449" y="597455"/>
            <a:ext cx="1980841" cy="126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42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4A208C-5024-F820-639F-6BA012DD6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pPr algn="ctr"/>
            <a:r>
              <a:rPr lang="es-MX" sz="5400" b="1" dirty="0"/>
              <a:t>INTRODUCCION</a:t>
            </a:r>
            <a:endParaRPr lang="es-MX" sz="5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57F453-2CC1-375F-1A96-6494A825C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MX" sz="2400"/>
              <a:t>En la actualidad, el desarrollo de servicios backend requiere arquitecturas eficientes, asíncronas y con tipado fuerte de datos. FastAPI es un microframework de Python diseñado para la construcción rápida de APIs RESTful que aprovecha el tipado de Python para la validación automática a través de Pydantic y el mapeo objeto-relacional (ORM) mediante SQLAlchemy.</a:t>
            </a:r>
          </a:p>
          <a:p>
            <a:endParaRPr lang="es-MX" sz="2400"/>
          </a:p>
        </p:txBody>
      </p:sp>
    </p:spTree>
    <p:extLst>
      <p:ext uri="{BB962C8B-B14F-4D97-AF65-F5344CB8AC3E}">
        <p14:creationId xmlns:p14="http://schemas.microsoft.com/office/powerpoint/2010/main" val="248231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6F17DB-EA5B-43A5-C220-3A40DEF2F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r>
              <a:rPr lang="es-MX" sz="4800" b="1" dirty="0" err="1"/>
              <a:t>Justificacion</a:t>
            </a:r>
            <a:endParaRPr lang="es-MX" sz="4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18BF6D-FE99-C900-5A55-6B103B5AC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s-MX" sz="1700" b="1"/>
          </a:p>
          <a:p>
            <a:pPr lvl="0"/>
            <a:r>
              <a:rPr lang="es-MX" sz="1700"/>
              <a:t>Configurar, desplegar y validar un servicio backend de gestión de productos utilizando FastAPI, conectándolo a una base de datos PostgreSQL.</a:t>
            </a:r>
          </a:p>
          <a:p>
            <a:pPr lvl="1"/>
            <a:r>
              <a:rPr lang="es-MX" sz="1700"/>
              <a:t>Configurar el entorno de desarrollo en Visual Studio Code instalando dependencias clave (fastapi, uvicorn, sqlalchemy, psycopg2-binary, python-dotenv).</a:t>
            </a:r>
          </a:p>
          <a:p>
            <a:pPr lvl="1"/>
            <a:r>
              <a:rPr lang="es-MX" sz="1700"/>
              <a:t>Implementar una arquitectura limpia separando modelos de base de datos (models.py), esquemas de validación (schemas.py), conexión a BD (database.py) y controladores/endpoints (main.py).</a:t>
            </a:r>
          </a:p>
          <a:p>
            <a:pPr lvl="1"/>
            <a:r>
              <a:rPr lang="es-MX" sz="1700"/>
              <a:t>Probar las operaciones CRUD (POST, GET, PUT, DELETE) utilizando el cliente de peticiones HTTP Bruno.</a:t>
            </a:r>
          </a:p>
          <a:p>
            <a:pPr lvl="1"/>
            <a:r>
              <a:rPr lang="es-MX" sz="1700"/>
              <a:t>Auditar la persistencia de datos en PostgreSQL mediante pgAdmin 4.</a:t>
            </a:r>
          </a:p>
          <a:p>
            <a:endParaRPr lang="es-MX" sz="17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689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ED851-54B9-4765-92D2-F0BE443BE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5D2EA2-1284-FD88-C3AE-3C8C7FC7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1856" y="2944090"/>
            <a:ext cx="4036334" cy="2387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IMPLEMENTACIÓN DEL CÓDIGO FUENTE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6824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Editor de código">
            <a:extLst>
              <a:ext uri="{FF2B5EF4-FFF2-40B4-BE49-F238E27FC236}">
                <a16:creationId xmlns:a16="http://schemas.microsoft.com/office/drawing/2014/main" id="{9023F1DE-E82F-3099-1FF1-FB05965456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612" y="666728"/>
            <a:ext cx="5465791" cy="546579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6048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791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B0B8DCBA-FEED-46EF-A140-35B90401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858139-8870-5064-6455-C2B9084BB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s-MX" sz="3300" b="1"/>
              <a:t>Conexión a Base de Datos (database.py)</a:t>
            </a:r>
            <a:endParaRPr lang="es-MX" sz="33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98BEAA-F2F0-2ADB-11FF-F5551DAA9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s-MX" sz="1800"/>
              <a:t>Encargado de cargar las variables de entorno del archivo .env y establecer la sesión de SQLAlchemy:</a:t>
            </a:r>
          </a:p>
          <a:p>
            <a:endParaRPr lang="es-MX" sz="18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B457E04-13E9-0EE4-7A2B-447CF5A267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31" r="37258" b="1"/>
          <a:stretch>
            <a:fillRect/>
          </a:stretch>
        </p:blipFill>
        <p:spPr>
          <a:xfrm>
            <a:off x="6788383" y="613147"/>
            <a:ext cx="4565417" cy="5593443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044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1DAC89-D419-2AD7-F9EF-66B848543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s-MX" sz="3600" b="1"/>
              <a:t>Modelo de Datos (models.py)</a:t>
            </a:r>
            <a:endParaRPr lang="es-MX" sz="3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0846C8-95C9-18A4-4CC8-5B261FAC4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s-MX" sz="1800"/>
              <a:t>Mapeo de la tabla productos en PostgreSQL: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E0DDD34-4DA0-0C40-B0E1-6C533073A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729684"/>
            <a:ext cx="5628018" cy="31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002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A9D305-5B40-5843-68E2-639453897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s-MX" sz="3100" b="1"/>
              <a:t>Esquemas de Validación (schemas.py)</a:t>
            </a:r>
            <a:endParaRPr lang="es-MX" sz="3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AFD34A-F335-554B-33E1-F5C9805A8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s-MX" sz="1800"/>
              <a:t>Definición de modelos Pydantic para el intercambio de información JSON:</a:t>
            </a:r>
          </a:p>
          <a:p>
            <a:endParaRPr lang="es-MX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6B68333-1A89-BA91-D5B8-F3B254C9E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729684"/>
            <a:ext cx="5628018" cy="31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929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D8030F-1FC8-BF13-B181-8163AF924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s-MX" sz="3100" b="1"/>
              <a:t>Puntos de Entrada y Controladores (main.py)</a:t>
            </a:r>
            <a:endParaRPr lang="es-MX" sz="3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64BD2B-CED5-AAD1-F73A-05AB7C8E1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s-MX" sz="1800" dirty="0"/>
              <a:t>Definición de los </a:t>
            </a:r>
            <a:r>
              <a:rPr lang="es-MX" sz="1800" dirty="0" err="1"/>
              <a:t>endpoints</a:t>
            </a:r>
            <a:r>
              <a:rPr lang="es-MX" sz="1800" dirty="0"/>
              <a:t> HTTP principales:</a:t>
            </a:r>
          </a:p>
          <a:p>
            <a:endParaRPr lang="es-MX" sz="1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594B52-5057-2D84-AE15-695744528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729684"/>
            <a:ext cx="5628018" cy="31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409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D53A23-1952-7401-264A-4524D507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31961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PRUEBAS DE FUNCIONALIDAD Y EVIDENCIAS</a:t>
            </a:r>
            <a:br>
              <a:rPr lang="en-US" sz="5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88739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17F9CF-B57D-2DCF-6113-4B10FA2D4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s-MX" sz="2000" b="1"/>
              <a:t>Compilación y Despliegue del Servidor</a:t>
            </a:r>
            <a:br>
              <a:rPr lang="es-MX" sz="2000" b="1"/>
            </a:br>
            <a:endParaRPr lang="es-MX" sz="2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EEE1C4-FE53-8034-3CDB-559B0F18C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pPr lvl="0"/>
            <a:r>
              <a:rPr lang="es-MX" sz="1800"/>
              <a:t>Se ejecutó el comando uvicorn main:app --reload en la terminal de Visual Studio Code.</a:t>
            </a:r>
          </a:p>
          <a:p>
            <a:pPr lvl="0"/>
            <a:r>
              <a:rPr lang="es-MX" sz="1800"/>
              <a:t>El servidor confirmó el arranque exitoso mostrando el mensaje Application startup complete. en el puerto local 8000.</a:t>
            </a:r>
          </a:p>
          <a:p>
            <a:endParaRPr lang="es-MX" sz="18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EFFF7A8-B676-50DB-BD5C-3310BA944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305" y="841905"/>
            <a:ext cx="4119426" cy="2317178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70E5CA6-946A-883D-E26C-083A5567AA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77" r="28363" b="1"/>
          <a:stretch>
            <a:fillRect/>
          </a:stretch>
        </p:blipFill>
        <p:spPr>
          <a:xfrm>
            <a:off x="7769301" y="3703659"/>
            <a:ext cx="2449435" cy="2317178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5757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796650-449B-D40E-4AEA-6B9B312E3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4783697" cy="1942810"/>
          </a:xfrm>
        </p:spPr>
        <p:txBody>
          <a:bodyPr anchor="b">
            <a:normAutofit/>
          </a:bodyPr>
          <a:lstStyle/>
          <a:p>
            <a:r>
              <a:rPr lang="es-MX" sz="4000" b="1"/>
              <a:t>Auditoría de Persistencia en pgAdmin 4</a:t>
            </a:r>
            <a:endParaRPr lang="es-MX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3F485F-71F9-3C91-68EB-3917D7E67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686323"/>
            <a:ext cx="4783697" cy="3433583"/>
          </a:xfrm>
        </p:spPr>
        <p:txBody>
          <a:bodyPr>
            <a:normAutofit/>
          </a:bodyPr>
          <a:lstStyle/>
          <a:p>
            <a:pPr lvl="0"/>
            <a:r>
              <a:rPr lang="es-MX" sz="2000"/>
              <a:t>Se accedió a la base de datos fastapi_db en pgAdmin 4.</a:t>
            </a:r>
          </a:p>
          <a:p>
            <a:pPr lvl="0"/>
            <a:r>
              <a:rPr lang="es-MX" sz="2000"/>
              <a:t>Mediante la consulta SELECT * FROM public.productos;, se constató la creación automática de la estructura de la tabla y la persistencia física de los registros enviados a través de las peticiones REST.</a:t>
            </a:r>
          </a:p>
          <a:p>
            <a:endParaRPr lang="es-MX" sz="20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B8CE6EA-196D-E227-0CAE-FB642B391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424" y="1819881"/>
            <a:ext cx="5365375" cy="301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418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2DE09E-B436-D851-AC36-13B8C1F34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r>
              <a:rPr lang="es-MX" sz="4800" b="1" dirty="0"/>
              <a:t>CONCLUSIONES</a:t>
            </a:r>
            <a:endParaRPr lang="es-MX" sz="4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846A76-2981-55A0-7624-DB6F3D298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s-MX" sz="2000" b="1"/>
          </a:p>
          <a:p>
            <a:pPr lvl="0"/>
            <a:r>
              <a:rPr lang="es-MX" sz="2000"/>
              <a:t>Se logró la integración correcta entre FastAPI y PostgreSQL utilizando SQLAlchemy como motor de persistencia, demostrando la eficiencia del ORM para abstraer consultas SQL complejas.</a:t>
            </a:r>
          </a:p>
          <a:p>
            <a:pPr lvl="0"/>
            <a:r>
              <a:rPr lang="es-MX" sz="2000"/>
              <a:t>La separación entre esquemas de Pydantic y modelos de SQLAlchemy garantizó la validación estricta de los datos recibidos antes de ser procesados o almacenados.</a:t>
            </a:r>
          </a:p>
          <a:p>
            <a:pPr lvl="0"/>
            <a:r>
              <a:rPr lang="es-MX" sz="2000"/>
              <a:t>Las pruebas ejecutadas en Bruno y la posterior verificación en pgAdmin confirmaron el cumplimiento exitoso del ciclo de vida de una arquitectura backend RESTful profesional.</a:t>
            </a:r>
          </a:p>
          <a:p>
            <a:endParaRPr lang="es-MX" sz="2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450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D5F540-2F85-788B-C023-078B673DF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r>
              <a:rPr lang="es-MX" sz="4800" b="1" dirty="0"/>
              <a:t>FUENTES DE INFORMACIÓN</a:t>
            </a:r>
            <a:endParaRPr lang="es-MX" sz="4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753338-E7CF-721E-56B6-0DD4E7E89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es-MX" sz="1500" b="1"/>
              <a:t>FastAPI Documentation.</a:t>
            </a:r>
            <a:r>
              <a:rPr lang="es-MX" sz="1500"/>
              <a:t> (2026). </a:t>
            </a:r>
            <a:r>
              <a:rPr lang="es-MX" sz="1500" i="1"/>
              <a:t>FastAPI framework, high performance, easy to learn, fast to code, ready for production</a:t>
            </a:r>
            <a:r>
              <a:rPr lang="es-MX" sz="1500"/>
              <a:t>. Recuperado de </a:t>
            </a:r>
            <a:r>
              <a:rPr lang="es-MX" sz="1500">
                <a:hlinkClick r:id="rId2"/>
              </a:rPr>
              <a:t>https://fastapi.tiangolo.com/</a:t>
            </a:r>
            <a:endParaRPr lang="es-MX" sz="1500"/>
          </a:p>
          <a:p>
            <a:pPr lvl="0"/>
            <a:r>
              <a:rPr lang="es-MX" sz="1500" b="1"/>
              <a:t>SQLAlchemy Documentation.</a:t>
            </a:r>
            <a:r>
              <a:rPr lang="es-MX" sz="1500"/>
              <a:t> (2026). </a:t>
            </a:r>
            <a:r>
              <a:rPr lang="es-MX" sz="1500" i="1"/>
              <a:t>SQLAlchemy - The Database Toolkit for Python</a:t>
            </a:r>
            <a:r>
              <a:rPr lang="es-MX" sz="1500"/>
              <a:t>. Recuperado de </a:t>
            </a:r>
            <a:r>
              <a:rPr lang="es-MX" sz="1500">
                <a:hlinkClick r:id="rId3"/>
              </a:rPr>
              <a:t>https://www.sqlalchemy.org/</a:t>
            </a:r>
            <a:endParaRPr lang="es-MX" sz="1500"/>
          </a:p>
          <a:p>
            <a:pPr lvl="0"/>
            <a:r>
              <a:rPr lang="es-MX" sz="1500" b="1"/>
              <a:t>Pydantic Documentation.</a:t>
            </a:r>
            <a:r>
              <a:rPr lang="es-MX" sz="1500"/>
              <a:t> (2026). </a:t>
            </a:r>
            <a:r>
              <a:rPr lang="es-MX" sz="1500" i="1"/>
              <a:t>Data validation using Python type hints</a:t>
            </a:r>
            <a:r>
              <a:rPr lang="es-MX" sz="1500"/>
              <a:t>. Recuperado de </a:t>
            </a:r>
            <a:r>
              <a:rPr lang="es-MX" sz="1500">
                <a:hlinkClick r:id="rId4"/>
              </a:rPr>
              <a:t>https://docs.pydantic.dev/</a:t>
            </a:r>
            <a:endParaRPr lang="es-MX" sz="1500"/>
          </a:p>
          <a:p>
            <a:pPr lvl="0"/>
            <a:r>
              <a:rPr lang="es-MX" sz="1500" b="1"/>
              <a:t>PostgreSQL Global Development Group.</a:t>
            </a:r>
            <a:r>
              <a:rPr lang="es-MX" sz="1500"/>
              <a:t> (2026). </a:t>
            </a:r>
            <a:r>
              <a:rPr lang="es-MX" sz="1500" i="1"/>
              <a:t>PostgreSQL: The World's Most Advanced Open Source Relational Database</a:t>
            </a:r>
            <a:r>
              <a:rPr lang="es-MX" sz="1500"/>
              <a:t>. Recuperado de </a:t>
            </a:r>
            <a:r>
              <a:rPr lang="es-MX" sz="1500">
                <a:hlinkClick r:id="rId5"/>
              </a:rPr>
              <a:t>https://www.postgresql.org/</a:t>
            </a:r>
            <a:endParaRPr lang="es-MX" sz="1500"/>
          </a:p>
          <a:p>
            <a:pPr lvl="0"/>
            <a:r>
              <a:rPr lang="es-MX" sz="1500" b="1"/>
              <a:t>Uvicorn Documentation.</a:t>
            </a:r>
            <a:r>
              <a:rPr lang="es-MX" sz="1500"/>
              <a:t> (2026). </a:t>
            </a:r>
            <a:r>
              <a:rPr lang="es-MX" sz="1500" i="1"/>
              <a:t>Uvicorn: An ASGI web server implementation for Python</a:t>
            </a:r>
            <a:r>
              <a:rPr lang="es-MX" sz="1500"/>
              <a:t>. Recuperado de </a:t>
            </a:r>
            <a:r>
              <a:rPr lang="es-MX" sz="1500">
                <a:hlinkClick r:id="rId6"/>
              </a:rPr>
              <a:t>https://www.uvicorn.org/</a:t>
            </a:r>
            <a:endParaRPr lang="es-MX" sz="1500"/>
          </a:p>
          <a:p>
            <a:pPr lvl="0"/>
            <a:r>
              <a:rPr lang="es-MX" sz="1500" b="1"/>
              <a:t>Bruno API Client.</a:t>
            </a:r>
            <a:r>
              <a:rPr lang="es-MX" sz="1500"/>
              <a:t> (2026). </a:t>
            </a:r>
            <a:r>
              <a:rPr lang="es-MX" sz="1500" i="1"/>
              <a:t>Re-inventing the API Client</a:t>
            </a:r>
            <a:r>
              <a:rPr lang="es-MX" sz="1500"/>
              <a:t>. Recuperado de </a:t>
            </a:r>
            <a:r>
              <a:rPr lang="es-MX" sz="1500">
                <a:hlinkClick r:id="rId7"/>
              </a:rPr>
              <a:t>https://www.usebruno.com/</a:t>
            </a:r>
            <a:endParaRPr lang="es-MX" sz="1500"/>
          </a:p>
          <a:p>
            <a:endParaRPr lang="es-MX" sz="15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6622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659</Words>
  <Application>Microsoft Office PowerPoint</Application>
  <PresentationFormat>Panorámica</PresentationFormat>
  <Paragraphs>54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Tema de Office</vt:lpstr>
      <vt:lpstr>o</vt:lpstr>
      <vt:lpstr>INTRODUCCION</vt:lpstr>
      <vt:lpstr>Justificacion</vt:lpstr>
      <vt:lpstr>IMPLEMENTACIÓN DEL CÓDIGO FUENTE</vt:lpstr>
      <vt:lpstr>Conexión a Base de Datos (database.py)</vt:lpstr>
      <vt:lpstr>Modelo de Datos (models.py)</vt:lpstr>
      <vt:lpstr>Esquemas de Validación (schemas.py)</vt:lpstr>
      <vt:lpstr>Puntos de Entrada y Controladores (main.py)</vt:lpstr>
      <vt:lpstr>PRUEBAS DE FUNCIONALIDAD Y EVIDENCIAS </vt:lpstr>
      <vt:lpstr>Compilación y Despliegue del Servidor </vt:lpstr>
      <vt:lpstr>Auditoría de Persistencia en pgAdmin 4</vt:lpstr>
      <vt:lpstr>CONCLUSIONES</vt:lpstr>
      <vt:lpstr>FUENTES DE INFORMACIÓN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Jesus Eduardo Villarreal Lopez</dc:creator>
  <cp:lastModifiedBy>Jesus Eduardo Villarreal Lopez</cp:lastModifiedBy>
  <cp:revision>1</cp:revision>
  <dcterms:created xsi:type="dcterms:W3CDTF">2026-10-09T10:01:20Z</dcterms:created>
  <dcterms:modified xsi:type="dcterms:W3CDTF">2026-10-09T10:16:57Z</dcterms:modified>
</cp:coreProperties>
</file>